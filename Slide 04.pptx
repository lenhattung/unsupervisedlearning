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63"/>
  </p:notesMasterIdLst>
  <p:sldIdLst>
    <p:sldId id="256" r:id="rId2"/>
    <p:sldId id="257" r:id="rId3"/>
    <p:sldId id="258" r:id="rId4"/>
    <p:sldId id="260" r:id="rId5"/>
    <p:sldId id="261" r:id="rId6"/>
    <p:sldId id="262" r:id="rId7"/>
    <p:sldId id="264" r:id="rId8"/>
    <p:sldId id="268" r:id="rId9"/>
    <p:sldId id="263" r:id="rId10"/>
    <p:sldId id="265" r:id="rId11"/>
    <p:sldId id="266" r:id="rId12"/>
    <p:sldId id="267" r:id="rId13"/>
    <p:sldId id="269" r:id="rId14"/>
    <p:sldId id="259" r:id="rId15"/>
    <p:sldId id="270" r:id="rId16"/>
    <p:sldId id="271" r:id="rId17"/>
    <p:sldId id="272" r:id="rId18"/>
    <p:sldId id="273" r:id="rId19"/>
    <p:sldId id="274" r:id="rId20"/>
    <p:sldId id="276" r:id="rId21"/>
    <p:sldId id="275" r:id="rId22"/>
    <p:sldId id="277" r:id="rId23"/>
    <p:sldId id="278" r:id="rId24"/>
    <p:sldId id="279" r:id="rId25"/>
    <p:sldId id="280" r:id="rId26"/>
    <p:sldId id="281" r:id="rId27"/>
    <p:sldId id="282" r:id="rId28"/>
    <p:sldId id="283" r:id="rId29"/>
    <p:sldId id="284" r:id="rId30"/>
    <p:sldId id="285" r:id="rId31"/>
    <p:sldId id="286" r:id="rId32"/>
    <p:sldId id="288" r:id="rId33"/>
    <p:sldId id="287" r:id="rId34"/>
    <p:sldId id="289" r:id="rId35"/>
    <p:sldId id="290" r:id="rId36"/>
    <p:sldId id="292" r:id="rId37"/>
    <p:sldId id="293" r:id="rId38"/>
    <p:sldId id="291"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8" r:id="rId53"/>
    <p:sldId id="307" r:id="rId54"/>
    <p:sldId id="309" r:id="rId55"/>
    <p:sldId id="310" r:id="rId56"/>
    <p:sldId id="311" r:id="rId57"/>
    <p:sldId id="312" r:id="rId58"/>
    <p:sldId id="313" r:id="rId59"/>
    <p:sldId id="314" r:id="rId60"/>
    <p:sldId id="315" r:id="rId61"/>
    <p:sldId id="316" r:id="rId6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211" autoAdjust="0"/>
  </p:normalViewPr>
  <p:slideViewPr>
    <p:cSldViewPr>
      <p:cViewPr varScale="1">
        <p:scale>
          <a:sx n="81" d="100"/>
          <a:sy n="81" d="100"/>
        </p:scale>
        <p:origin x="1426" y="53"/>
      </p:cViewPr>
      <p:guideLst/>
    </p:cSldViewPr>
  </p:slideViewPr>
  <p:notesTextViewPr>
    <p:cViewPr>
      <p:scale>
        <a:sx n="125" d="100"/>
        <a:sy n="125" d="100"/>
      </p:scale>
      <p:origin x="0" y="0"/>
    </p:cViewPr>
  </p:notesTextViewPr>
  <p:gridSpacing cx="38100" cy="381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Nhat Tung" userId="77b0905b33e1f80d" providerId="LiveId" clId="{2B1D2E9A-7F0D-4BBC-8E5A-40B5C315AE2A}"/>
    <pc:docChg chg="modSld sldOrd">
      <pc:chgData name="Le Nhat Tung" userId="77b0905b33e1f80d" providerId="LiveId" clId="{2B1D2E9A-7F0D-4BBC-8E5A-40B5C315AE2A}" dt="2025-12-12T08:04:53.663" v="1"/>
      <pc:docMkLst>
        <pc:docMk/>
      </pc:docMkLst>
      <pc:sldChg chg="ord">
        <pc:chgData name="Le Nhat Tung" userId="77b0905b33e1f80d" providerId="LiveId" clId="{2B1D2E9A-7F0D-4BBC-8E5A-40B5C315AE2A}" dt="2025-12-12T08:04:53.663" v="1"/>
        <pc:sldMkLst>
          <pc:docMk/>
          <pc:sldMk cId="2265949910" sldId="2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728495-A322-4DCE-B456-BC8AF28B651C}" type="datetimeFigureOut">
              <a:rPr lang="en-US" smtClean="0"/>
              <a:t>12/12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3DFDE2-C36F-4F76-A40D-A690541279EF}" type="slidenum">
              <a:rPr lang="en-US" smtClean="0"/>
              <a:t>‹#›</a:t>
            </a:fld>
            <a:endParaRPr lang="en-US"/>
          </a:p>
        </p:txBody>
      </p:sp>
    </p:spTree>
    <p:extLst>
      <p:ext uri="{BB962C8B-B14F-4D97-AF65-F5344CB8AC3E}">
        <p14:creationId xmlns:p14="http://schemas.microsoft.com/office/powerpoint/2010/main" val="3621564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a:t>
            </a:fld>
            <a:endParaRPr lang="en-US"/>
          </a:p>
        </p:txBody>
      </p:sp>
    </p:spTree>
    <p:extLst>
      <p:ext uri="{BB962C8B-B14F-4D97-AF65-F5344CB8AC3E}">
        <p14:creationId xmlns:p14="http://schemas.microsoft.com/office/powerpoint/2010/main" val="1591839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800" b="0" i="0">
                <a:solidFill>
                  <a:srgbClr val="000000"/>
                </a:solidFill>
                <a:effectLst/>
                <a:latin typeface="VnNimbusRomanNo9L"/>
              </a:rPr>
              <a:t>Con chó có thể phân biệt được người thân trong gia đình và người lạ hay đứa trẻ có thể phân biệt được các con vật. Những việc tưởng chừng như rất đơn giản nhưng lại cực kì khó để thực hiện bằng máy tính. Vậy sự khác biệt nằm ở đâu? Câu trả lời nằm ở cấu trúc bộ não với lượng lớn các nơ-ron thần kinh liên kết với nhau. Liệu máy tính có thể mô phỏng lại cấu trúc bộ não để giải các bài toán trên ???</a:t>
            </a:r>
            <a:r>
              <a:rPr lang="vi-VN"/>
              <a:t> </a:t>
            </a:r>
            <a:br>
              <a:rPr lang="vi-VN"/>
            </a:br>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a:t>
            </a:fld>
            <a:endParaRPr lang="en-US"/>
          </a:p>
        </p:txBody>
      </p:sp>
    </p:spTree>
    <p:extLst>
      <p:ext uri="{BB962C8B-B14F-4D97-AF65-F5344CB8AC3E}">
        <p14:creationId xmlns:p14="http://schemas.microsoft.com/office/powerpoint/2010/main" val="857950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a:solidFill>
                  <a:srgbClr val="404040"/>
                </a:solidFill>
                <a:effectLst/>
                <a:latin typeface="Noto Serif" panose="020F0502020204030204" pitchFamily="18" charset="0"/>
              </a:rPr>
              <a:t>Nhưng trong Hình 9.1, bức ảnh sẽ đi qua một lớp đầu tiên được gọi là lớp tích chập. Tích chập là gì? Trong toán học, tích</a:t>
            </a:r>
            <a:r>
              <a:rPr lang="vi-VN" b="1" i="0">
                <a:solidFill>
                  <a:srgbClr val="404040"/>
                </a:solidFill>
                <a:effectLst/>
                <a:latin typeface="Noto Serif" panose="020F0502020204030204" pitchFamily="18" charset="0"/>
              </a:rPr>
              <a:t> </a:t>
            </a:r>
            <a:r>
              <a:rPr lang="vi-VN" b="0" i="0">
                <a:solidFill>
                  <a:srgbClr val="404040"/>
                </a:solidFill>
                <a:effectLst/>
                <a:latin typeface="Noto Serif" panose="020F0502020204030204" pitchFamily="18" charset="0"/>
              </a:rPr>
              <a:t>chập là một phép toán thực hiện đối với 2 ma trận đầu vào, kết quả đầu ra là một ma trận thứ 3. Một trong hai ma trận đầu vào của chúng ta ở đây chính là dữ liệu bức ảnh, còn ma trận thứ 2 là ma trận mà chúng ta sẽ phải tự định nghĩa, chúng còn được gọi là các bộ lọc. Bộ lọc này có mục đích là làm giảm kích thước của ma trận đầu vào.</a:t>
            </a:r>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6</a:t>
            </a:fld>
            <a:endParaRPr lang="en-US"/>
          </a:p>
        </p:txBody>
      </p:sp>
    </p:spTree>
    <p:extLst>
      <p:ext uri="{BB962C8B-B14F-4D97-AF65-F5344CB8AC3E}">
        <p14:creationId xmlns:p14="http://schemas.microsoft.com/office/powerpoint/2010/main" val="411130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b="1"/>
              <a:t>Đầu vào (Input)</a:t>
            </a:r>
          </a:p>
          <a:p>
            <a:pPr>
              <a:buFont typeface="Arial" panose="020B0604020202020204" pitchFamily="34" charset="0"/>
              <a:buChar char="•"/>
            </a:pPr>
            <a:r>
              <a:rPr lang="vi-VN"/>
              <a:t>Kích thước: 6×6×3</a:t>
            </a:r>
          </a:p>
          <a:p>
            <a:pPr>
              <a:buFont typeface="Arial" panose="020B0604020202020204" pitchFamily="34" charset="0"/>
              <a:buChar char="•"/>
            </a:pPr>
            <a:r>
              <a:rPr lang="vi-VN"/>
              <a:t>Đây là một tensor 3 chiều, có thể hiểu là một hình ảnh có: </a:t>
            </a:r>
          </a:p>
          <a:p>
            <a:pPr marL="742950" lvl="1" indent="-285750">
              <a:buFont typeface="Arial" panose="020B0604020202020204" pitchFamily="34" charset="0"/>
              <a:buChar char="•"/>
            </a:pPr>
            <a:r>
              <a:rPr lang="vi-VN"/>
              <a:t>Chiều rộng: 6 pixel</a:t>
            </a:r>
          </a:p>
          <a:p>
            <a:pPr marL="742950" lvl="1" indent="-285750">
              <a:buFont typeface="Arial" panose="020B0604020202020204" pitchFamily="34" charset="0"/>
              <a:buChar char="•"/>
            </a:pPr>
            <a:r>
              <a:rPr lang="vi-VN"/>
              <a:t>Chiều cao: 6 pixel</a:t>
            </a:r>
          </a:p>
          <a:p>
            <a:pPr marL="742950" lvl="1" indent="-285750">
              <a:buFont typeface="Arial" panose="020B0604020202020204" pitchFamily="34" charset="0"/>
              <a:buChar char="•"/>
            </a:pPr>
            <a:r>
              <a:rPr lang="vi-VN"/>
              <a:t>Số kênh (channels): 3 (tương ứng với ảnh RGB)</a:t>
            </a:r>
          </a:p>
          <a:p>
            <a:pPr>
              <a:buFont typeface="Arial" panose="020B0604020202020204" pitchFamily="34" charset="0"/>
              <a:buChar char="•"/>
            </a:pPr>
            <a:r>
              <a:rPr lang="vi-VN"/>
              <a:t>Trong hình, kênh xanh lá cây được hiển thị với các giá trị pixel cụ thể (4, 9, 2, 5,...)</a:t>
            </a:r>
          </a:p>
          <a:p>
            <a:pPr>
              <a:buNone/>
            </a:pPr>
            <a:r>
              <a:rPr lang="vi-VN" b="1"/>
              <a:t>Các bộ lọc (Filters)</a:t>
            </a:r>
          </a:p>
          <a:p>
            <a:pPr>
              <a:buNone/>
            </a:pPr>
            <a:r>
              <a:rPr lang="vi-VN"/>
              <a:t>Hình ảnh cho thấy hai bộ lọc khác nhau:</a:t>
            </a:r>
          </a:p>
          <a:p>
            <a:pPr>
              <a:buFont typeface="+mj-lt"/>
              <a:buAutoNum type="arabicPeriod"/>
            </a:pPr>
            <a:r>
              <a:rPr lang="vi-VN" b="1"/>
              <a:t>Filter 1</a:t>
            </a:r>
            <a:r>
              <a:rPr lang="vi-VN"/>
              <a:t> (màu xanh lam, vàng và xanh lá): </a:t>
            </a:r>
          </a:p>
          <a:p>
            <a:pPr marL="742950" lvl="1" indent="-285750">
              <a:buFont typeface="+mj-lt"/>
              <a:buAutoNum type="arabicPeriod"/>
            </a:pPr>
            <a:r>
              <a:rPr lang="vi-VN"/>
              <a:t>Kích thước: 4×4×3</a:t>
            </a:r>
          </a:p>
          <a:p>
            <a:pPr marL="742950" lvl="1" indent="-285750">
              <a:buFont typeface="+mj-lt"/>
              <a:buAutoNum type="arabicPeriod"/>
            </a:pPr>
            <a:r>
              <a:rPr lang="vi-VN"/>
              <a:t>Mỗi bộ lọc có cùng số kênh với đầu vào (3 kênh)</a:t>
            </a:r>
          </a:p>
          <a:p>
            <a:pPr marL="742950" lvl="1" indent="-285750">
              <a:buFont typeface="+mj-lt"/>
              <a:buAutoNum type="arabicPeriod"/>
            </a:pPr>
            <a:r>
              <a:rPr lang="vi-VN"/>
              <a:t>Kết quả tích chập: tạo ra feature map kích thước 3×3</a:t>
            </a:r>
          </a:p>
          <a:p>
            <a:pPr>
              <a:buFont typeface="+mj-lt"/>
              <a:buAutoNum type="arabicPeriod"/>
            </a:pPr>
            <a:r>
              <a:rPr lang="vi-VN" b="1"/>
              <a:t>Filter 2</a:t>
            </a:r>
            <a:r>
              <a:rPr lang="vi-VN"/>
              <a:t> (màu hồng, đỏ và vàng): </a:t>
            </a:r>
          </a:p>
          <a:p>
            <a:pPr marL="742950" lvl="1" indent="-285750">
              <a:buFont typeface="+mj-lt"/>
              <a:buAutoNum type="arabicPeriod"/>
            </a:pPr>
            <a:r>
              <a:rPr lang="vi-VN"/>
              <a:t>Kích thước: 4×4×3</a:t>
            </a:r>
          </a:p>
          <a:p>
            <a:pPr marL="742950" lvl="1" indent="-285750">
              <a:buFont typeface="+mj-lt"/>
              <a:buAutoNum type="arabicPeriod"/>
            </a:pPr>
            <a:r>
              <a:rPr lang="vi-VN"/>
              <a:t>Tương tự, sau phép tích chập tạo ra một feature map kích thước 3×3 khác</a:t>
            </a:r>
          </a:p>
          <a:p>
            <a:pPr>
              <a:buNone/>
            </a:pPr>
            <a:r>
              <a:rPr lang="vi-VN" b="1"/>
              <a:t>Quá trình tính toán</a:t>
            </a:r>
          </a:p>
          <a:p>
            <a:pPr>
              <a:buFont typeface="+mj-lt"/>
              <a:buAutoNum type="arabicPeriod"/>
            </a:pPr>
            <a:r>
              <a:rPr lang="vi-VN" b="1"/>
              <a:t>Phép tích chập</a:t>
            </a:r>
            <a:r>
              <a:rPr lang="vi-VN"/>
              <a:t>: </a:t>
            </a:r>
          </a:p>
          <a:p>
            <a:pPr marL="742950" lvl="1" indent="-285750">
              <a:buFont typeface="+mj-lt"/>
              <a:buAutoNum type="arabicPeriod"/>
            </a:pPr>
            <a:r>
              <a:rPr lang="vi-VN"/>
              <a:t>Biểu tượng * thể hiện phép tích chập</a:t>
            </a:r>
          </a:p>
          <a:p>
            <a:pPr marL="742950" lvl="1" indent="-285750">
              <a:buFont typeface="+mj-lt"/>
              <a:buAutoNum type="arabicPeriod"/>
            </a:pPr>
            <a:r>
              <a:rPr lang="vi-VN"/>
              <a:t>Mỗi bộ lọc trượt qua đầu vào và thực hiện phép tích chập</a:t>
            </a:r>
          </a:p>
          <a:p>
            <a:pPr marL="742950" lvl="1" indent="-285750">
              <a:buFont typeface="+mj-lt"/>
              <a:buAutoNum type="arabicPeriod"/>
            </a:pPr>
            <a:r>
              <a:rPr lang="vi-VN"/>
              <a:t>Kết quả là các feature map kích thước 3×3</a:t>
            </a:r>
          </a:p>
          <a:p>
            <a:pPr marL="742950" lvl="1" indent="-285750">
              <a:buFont typeface="+mj-lt"/>
              <a:buAutoNum type="arabicPeriod"/>
            </a:pPr>
            <a:r>
              <a:rPr lang="vi-VN"/>
              <a:t>Lưu ý: Kích thước đầu ra nhỏ hơn đầu vào vì không sử dụng padding</a:t>
            </a:r>
          </a:p>
          <a:p>
            <a:pPr>
              <a:buFont typeface="+mj-lt"/>
              <a:buAutoNum type="arabicPeriod"/>
            </a:pPr>
            <a:r>
              <a:rPr lang="vi-VN" b="1"/>
              <a:t>Tạo đầu ra nhiều kênh</a:t>
            </a:r>
            <a:r>
              <a:rPr lang="vi-VN"/>
              <a:t>: </a:t>
            </a:r>
          </a:p>
          <a:p>
            <a:pPr marL="742950" lvl="1" indent="-285750">
              <a:buFont typeface="+mj-lt"/>
              <a:buAutoNum type="arabicPeriod"/>
            </a:pPr>
            <a:r>
              <a:rPr lang="vi-VN"/>
              <a:t>Hai bộ lọc tạo ra hai feature map</a:t>
            </a:r>
          </a:p>
          <a:p>
            <a:pPr marL="742950" lvl="1" indent="-285750">
              <a:buFont typeface="+mj-lt"/>
              <a:buAutoNum type="arabicPeriod"/>
            </a:pPr>
            <a:r>
              <a:rPr lang="vi-VN"/>
              <a:t>Các feature map này được ghép lại tạo thành một tensor kích thước 3×3×2</a:t>
            </a:r>
          </a:p>
          <a:p>
            <a:pPr marL="742950" lvl="1" indent="-285750">
              <a:buFont typeface="+mj-lt"/>
              <a:buAutoNum type="arabicPeriod"/>
            </a:pPr>
            <a:r>
              <a:rPr lang="vi-VN"/>
              <a:t>3×3 là kích thước không gian, 2 là số kênh (tương ứng với 2 bộ lọc)</a:t>
            </a:r>
          </a:p>
          <a:p>
            <a:pPr>
              <a:buFont typeface="+mj-lt"/>
              <a:buAutoNum type="arabicPeriod"/>
            </a:pPr>
            <a:r>
              <a:rPr lang="vi-VN" b="1"/>
              <a:t>Áp dụng hàm kích hoạt và bias</a:t>
            </a:r>
            <a:r>
              <a:rPr lang="vi-VN"/>
              <a:t>: </a:t>
            </a:r>
          </a:p>
          <a:p>
            <a:pPr marL="742950" lvl="1" indent="-285750">
              <a:buFont typeface="+mj-lt"/>
              <a:buAutoNum type="arabicPeriod"/>
            </a:pPr>
            <a:r>
              <a:rPr lang="vi-VN"/>
              <a:t>Sau khi tính xong phép tích chập, áp dụng hàm ReLU (Rectified Linear Unit)</a:t>
            </a:r>
          </a:p>
          <a:p>
            <a:pPr marL="742950" lvl="1" indent="-285750">
              <a:buFont typeface="+mj-lt"/>
              <a:buAutoNum type="arabicPeriod"/>
            </a:pPr>
            <a:r>
              <a:rPr lang="vi-VN"/>
              <a:t>Thêm bias (b) vào kết quả</a:t>
            </a:r>
          </a:p>
          <a:p>
            <a:pPr marL="742950" lvl="1" indent="-285750">
              <a:buFont typeface="+mj-lt"/>
              <a:buAutoNum type="arabicPeriod"/>
            </a:pPr>
            <a:r>
              <a:rPr lang="vi-VN"/>
              <a:t>ReLU(x + b) là phép toán phi tuyến, giữ lại các giá trị dương và chuyển giá trị âm thành 0</a:t>
            </a:r>
          </a:p>
          <a:p>
            <a:pPr>
              <a:buNone/>
            </a:pPr>
            <a:r>
              <a:rPr lang="vi-VN" b="1"/>
              <a:t>Đầu ra cuối cùng (Output)</a:t>
            </a:r>
          </a:p>
          <a:p>
            <a:pPr>
              <a:buFont typeface="Arial" panose="020B0604020202020204" pitchFamily="34" charset="0"/>
              <a:buChar char="•"/>
            </a:pPr>
            <a:r>
              <a:rPr lang="vi-VN"/>
              <a:t>Kích thước: 3×3×2</a:t>
            </a:r>
          </a:p>
          <a:p>
            <a:pPr>
              <a:buFont typeface="Arial" panose="020B0604020202020204" pitchFamily="34" charset="0"/>
              <a:buChar char="•"/>
            </a:pPr>
            <a:r>
              <a:rPr lang="vi-VN"/>
              <a:t>Đây là tensor 3 chiều, có: </a:t>
            </a:r>
          </a:p>
          <a:p>
            <a:pPr marL="742950" lvl="1" indent="-285750">
              <a:buFont typeface="Arial" panose="020B0604020202020204" pitchFamily="34" charset="0"/>
              <a:buChar char="•"/>
            </a:pPr>
            <a:r>
              <a:rPr lang="vi-VN"/>
              <a:t>Chiều rộng: 3</a:t>
            </a:r>
          </a:p>
          <a:p>
            <a:pPr marL="742950" lvl="1" indent="-285750">
              <a:buFont typeface="Arial" panose="020B0604020202020204" pitchFamily="34" charset="0"/>
              <a:buChar char="•"/>
            </a:pPr>
            <a:r>
              <a:rPr lang="vi-VN"/>
              <a:t>Chiều cao: 3</a:t>
            </a:r>
          </a:p>
          <a:p>
            <a:pPr marL="742950" lvl="1" indent="-285750">
              <a:buFont typeface="Arial" panose="020B0604020202020204" pitchFamily="34" charset="0"/>
              <a:buChar char="•"/>
            </a:pPr>
            <a:r>
              <a:rPr lang="vi-VN"/>
              <a:t>Số kênh: 2 (tương ứng với số bộ lọc sử dụng)</a:t>
            </a:r>
          </a:p>
          <a:p>
            <a:pPr>
              <a:buNone/>
            </a:pPr>
            <a:r>
              <a:rPr lang="vi-VN" b="1"/>
              <a:t>Những điểm quan trọng từ hình ảnh</a:t>
            </a:r>
          </a:p>
          <a:p>
            <a:pPr>
              <a:buFont typeface="+mj-lt"/>
              <a:buAutoNum type="arabicPeriod"/>
            </a:pPr>
            <a:r>
              <a:rPr lang="vi-VN" b="1"/>
              <a:t>Giảm kích thước không gian</a:t>
            </a:r>
            <a:r>
              <a:rPr lang="vi-VN"/>
              <a:t>: Từ 6×6 xuống 3×3 (do kích thước bộ lọc và không sử dụng padding)</a:t>
            </a:r>
          </a:p>
          <a:p>
            <a:pPr>
              <a:buFont typeface="+mj-lt"/>
              <a:buAutoNum type="arabicPeriod"/>
            </a:pPr>
            <a:r>
              <a:rPr lang="vi-VN" b="1"/>
              <a:t>Thay đổi số kênh</a:t>
            </a:r>
            <a:r>
              <a:rPr lang="vi-VN"/>
              <a:t>: Từ 3 kênh đầu vào thành 2 kênh đầu ra (tương ứng với số bộ lọc)</a:t>
            </a:r>
          </a:p>
          <a:p>
            <a:pPr>
              <a:buFont typeface="+mj-lt"/>
              <a:buAutoNum type="arabicPeriod"/>
            </a:pPr>
            <a:r>
              <a:rPr lang="vi-VN" b="1"/>
              <a:t>Quá trình đầy đủ</a:t>
            </a:r>
            <a:r>
              <a:rPr lang="vi-VN"/>
              <a:t>: Input → Convolution → ReLU → + bias → Output</a:t>
            </a:r>
          </a:p>
          <a:p>
            <a:pPr>
              <a:buFont typeface="+mj-lt"/>
              <a:buAutoNum type="arabicPeriod"/>
            </a:pPr>
            <a:r>
              <a:rPr lang="vi-VN" b="1"/>
              <a:t>Chia sẻ tham số</a:t>
            </a:r>
            <a:r>
              <a:rPr lang="vi-VN"/>
              <a:t>: Mỗi bộ lọc được áp dụng trên toàn bộ đầu vào, thể hiện đặc tính chia sẻ tham số của CNN</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23</a:t>
            </a:fld>
            <a:endParaRPr lang="en-US"/>
          </a:p>
        </p:txBody>
      </p:sp>
    </p:spTree>
    <p:extLst>
      <p:ext uri="{BB962C8B-B14F-4D97-AF65-F5344CB8AC3E}">
        <p14:creationId xmlns:p14="http://schemas.microsoft.com/office/powerpoint/2010/main" val="3315126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33</a:t>
            </a:fld>
            <a:endParaRPr lang="en-US"/>
          </a:p>
        </p:txBody>
      </p:sp>
    </p:spTree>
    <p:extLst>
      <p:ext uri="{BB962C8B-B14F-4D97-AF65-F5344CB8AC3E}">
        <p14:creationId xmlns:p14="http://schemas.microsoft.com/office/powerpoint/2010/main" val="418693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6DB36-6F4E-7443-6A44-044B15CC1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48037C-C616-DD84-96B0-0C00312A2C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8C449-483A-3157-CCDC-39EBDE72DDA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AB4724-69F7-7CEC-8C9A-9E5C6541ACD6}"/>
              </a:ext>
            </a:extLst>
          </p:cNvPr>
          <p:cNvSpPr>
            <a:spLocks noGrp="1"/>
          </p:cNvSpPr>
          <p:nvPr>
            <p:ph type="sldNum" sz="quarter" idx="5"/>
          </p:nvPr>
        </p:nvSpPr>
        <p:spPr/>
        <p:txBody>
          <a:bodyPr/>
          <a:lstStyle/>
          <a:p>
            <a:fld id="{903DFDE2-C36F-4F76-A40D-A690541279EF}" type="slidenum">
              <a:rPr lang="en-US" smtClean="0"/>
              <a:t>35</a:t>
            </a:fld>
            <a:endParaRPr lang="en-US"/>
          </a:p>
        </p:txBody>
      </p:sp>
    </p:spTree>
    <p:extLst>
      <p:ext uri="{BB962C8B-B14F-4D97-AF65-F5344CB8AC3E}">
        <p14:creationId xmlns:p14="http://schemas.microsoft.com/office/powerpoint/2010/main" val="3327100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AF549-F5BD-CF6C-923E-806F4EB1E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31AB3-936D-CCBE-019B-14C65974FC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806D7D-04A7-A4DE-8F7B-DCCD3A1888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C43231B-5D05-98E8-A4DB-005DB8746229}"/>
              </a:ext>
            </a:extLst>
          </p:cNvPr>
          <p:cNvSpPr>
            <a:spLocks noGrp="1"/>
          </p:cNvSpPr>
          <p:nvPr>
            <p:ph type="sldNum" sz="quarter" idx="5"/>
          </p:nvPr>
        </p:nvSpPr>
        <p:spPr/>
        <p:txBody>
          <a:bodyPr/>
          <a:lstStyle/>
          <a:p>
            <a:fld id="{903DFDE2-C36F-4F76-A40D-A690541279EF}" type="slidenum">
              <a:rPr lang="en-US" smtClean="0"/>
              <a:t>36</a:t>
            </a:fld>
            <a:endParaRPr lang="en-US"/>
          </a:p>
        </p:txBody>
      </p:sp>
    </p:spTree>
    <p:extLst>
      <p:ext uri="{BB962C8B-B14F-4D97-AF65-F5344CB8AC3E}">
        <p14:creationId xmlns:p14="http://schemas.microsoft.com/office/powerpoint/2010/main" val="3011609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a:t>Cũng giống như huấn luyện mạng neuron, huấn luyện một mạng neuron tích chập (CNN) bao gồm nhiều bước. Mỗi bước đều cần thận trọng để đảm bảo mô hình học hiệu quả từ dữ liệu và tổng quát hóa tốt với các dữ liệu. Các bước chung của quá trình huấn luyện CNN được trình bày dưới đây:</a:t>
            </a:r>
          </a:p>
          <a:p>
            <a:pPr>
              <a:buNone/>
            </a:pPr>
            <a:r>
              <a:rPr lang="vi-VN" b="1"/>
              <a:t>Chuẩn bị dữ liệu:</a:t>
            </a:r>
          </a:p>
          <a:p>
            <a:pPr>
              <a:buFont typeface="Arial" panose="020B0604020202020204" pitchFamily="34" charset="0"/>
              <a:buChar char="•"/>
            </a:pPr>
            <a:r>
              <a:rPr lang="vi-VN" b="1"/>
              <a:t>Thu thập dữ liệu</a:t>
            </a:r>
            <a:r>
              <a:rPr lang="vi-VN"/>
              <a:t>: Để huấn luyện một CNN, chúng ta cần thu thập một tập dữ liệu lớn và đa dạng liên quan đến nhiệm vụ. Đối với phân loại hình ảnh, điều này có thể bao gồm hàng chục/trăm nghìn hình ảnh có nhãn thuộc nhiều loại khác nhau. Có lượng dữ liệu đủ lớn là điều kiện tiên quyết để xây dựng mô hình CNN sâu có hiệu quả.</a:t>
            </a:r>
          </a:p>
          <a:p>
            <a:r>
              <a:rPr lang="vi-VN"/>
              <a:t>Bảng trong hình 4.10 mô tả kiến trúc VGG với các cấu hình khác nhau (A-E), từ 11 đến 19 lớp trọng số, với đầu vào là hình ảnh RGB kích thước 224×224. Cấu trúc bao gồm các lớp tích chập (conv3-64, conv3-128, conv3-256, conv3-512), các lớp maxpool, lớp fully connected (FC-4096, FC-1000) và lớp soft-max ở đầu ra.</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39</a:t>
            </a:fld>
            <a:endParaRPr lang="en-US"/>
          </a:p>
        </p:txBody>
      </p:sp>
    </p:spTree>
    <p:extLst>
      <p:ext uri="{BB962C8B-B14F-4D97-AF65-F5344CB8AC3E}">
        <p14:creationId xmlns:p14="http://schemas.microsoft.com/office/powerpoint/2010/main" val="2409191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AA1B3-DD33-49C6-8401-DAF90A344BDD}" type="datetime1">
              <a:rPr lang="en-US" smtClean="0"/>
              <a:t>12/12</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971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7E1FCF-0DFA-4012-A19C-C00E7B3A0CE4}" type="datetime1">
              <a:rPr lang="en-US" smtClean="0"/>
              <a:t>12/12</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96592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D8DC29-1059-4C06-8BA1-7050957DB671}" type="datetime1">
              <a:rPr lang="en-US" smtClean="0"/>
              <a:t>12/12</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7865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5C497B-6C3F-4D9A-8EC9-6E3BC8C1A8E0}" type="datetime1">
              <a:rPr lang="en-US" smtClean="0"/>
              <a:t>12/12</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08578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FBBE40-2349-4B09-8FF7-A9E68DCED3AD}" type="datetime1">
              <a:rPr lang="en-US" smtClean="0"/>
              <a:t>12/12</a:t>
            </a:fld>
            <a:endParaRPr lang="en-US"/>
          </a:p>
        </p:txBody>
      </p:sp>
      <p:sp>
        <p:nvSpPr>
          <p:cNvPr id="8" name="Footer Placeholder 7"/>
          <p:cNvSpPr>
            <a:spLocks noGrp="1"/>
          </p:cNvSpPr>
          <p:nvPr>
            <p:ph type="ftr" sz="quarter" idx="11"/>
          </p:nvPr>
        </p:nvSpPr>
        <p:spPr/>
        <p:txBody>
          <a:body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801879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F29E85-4074-4067-8F1A-8BD8B313671E}" type="datetime1">
              <a:rPr lang="en-US" smtClean="0"/>
              <a:t>12/12</a:t>
            </a:fld>
            <a:endParaRPr lang="en-US"/>
          </a:p>
        </p:txBody>
      </p:sp>
      <p:sp>
        <p:nvSpPr>
          <p:cNvPr id="4" name="Footer Placeholder 3"/>
          <p:cNvSpPr>
            <a:spLocks noGrp="1"/>
          </p:cNvSpPr>
          <p:nvPr>
            <p:ph type="ftr" sz="quarter" idx="11"/>
          </p:nvPr>
        </p:nvSpPr>
        <p:spPr/>
        <p:txBody>
          <a:bodyPr/>
          <a:lstStyle/>
          <a:p>
            <a:r>
              <a:rPr lang="en-US"/>
              <a:t>ThS. Lê Nhật Tùng</a:t>
            </a:r>
          </a:p>
        </p:txBody>
      </p:sp>
      <p:sp>
        <p:nvSpPr>
          <p:cNvPr id="5" name="Slide Number Placeholder 4"/>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37570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75A4DB8-8D6C-458E-86FB-E9A95200CDA7}" type="datetime1">
              <a:rPr lang="en-US" smtClean="0"/>
              <a:t>12/12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04748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9B2A48E-1D10-4082-AAD0-FD067602EB0D}" type="datetime1">
              <a:rPr lang="en-US" smtClean="0"/>
              <a:t>12/12</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ThS. Lê Nhật Tùng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37674A-7ED7-40B5-9AA7-3008B632771F}" type="slidenum">
              <a:rPr lang="en-US" smtClean="0"/>
              <a:t>‹#›</a:t>
            </a:fld>
            <a:endParaRPr lang="en-US"/>
          </a:p>
        </p:txBody>
      </p:sp>
    </p:spTree>
    <p:extLst>
      <p:ext uri="{BB962C8B-B14F-4D97-AF65-F5344CB8AC3E}">
        <p14:creationId xmlns:p14="http://schemas.microsoft.com/office/powerpoint/2010/main" val="3738523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09EDD3-1207-4B6D-A734-CD7F2226CB80}" type="datetime1">
              <a:rPr lang="en-US" smtClean="0"/>
              <a:t>12/12</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801845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1FB03A-180C-4D07-AB8B-A3DA7BF05E59}" type="datetime1">
              <a:rPr lang="en-US" smtClean="0"/>
              <a:t>12/12</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4240375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A25D2-BF01-48AD-872B-AC7F27AF8216}" type="datetime1">
              <a:rPr lang="en-US" smtClean="0"/>
              <a:t>12/12</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886200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C45B1A31-F891-428D-BB55-7F48928FA825}" type="datetime1">
              <a:rPr lang="en-US" smtClean="0"/>
              <a:t>12/12</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ThS. Lê Nhật Tùng</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7637674A-7ED7-40B5-9AA7-3008B632771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4289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55768-D4F9-F06E-0B75-8C062368AF4B}"/>
              </a:ext>
            </a:extLst>
          </p:cNvPr>
          <p:cNvSpPr>
            <a:spLocks noGrp="1"/>
          </p:cNvSpPr>
          <p:nvPr>
            <p:ph type="ctrTitle"/>
          </p:nvPr>
        </p:nvSpPr>
        <p:spPr/>
        <p:txBody>
          <a:bodyPr/>
          <a:lstStyle/>
          <a:p>
            <a:r>
              <a:rPr lang="en-US"/>
              <a:t>HỌC SÂU</a:t>
            </a:r>
          </a:p>
        </p:txBody>
      </p:sp>
      <p:sp>
        <p:nvSpPr>
          <p:cNvPr id="3" name="Subtitle 2">
            <a:extLst>
              <a:ext uri="{FF2B5EF4-FFF2-40B4-BE49-F238E27FC236}">
                <a16:creationId xmlns:a16="http://schemas.microsoft.com/office/drawing/2014/main" id="{C53E7493-6663-B110-0BA4-DCD80C786155}"/>
              </a:ext>
            </a:extLst>
          </p:cNvPr>
          <p:cNvSpPr>
            <a:spLocks noGrp="1"/>
          </p:cNvSpPr>
          <p:nvPr>
            <p:ph type="subTitle" idx="1"/>
          </p:nvPr>
        </p:nvSpPr>
        <p:spPr/>
        <p:txBody>
          <a:bodyPr/>
          <a:lstStyle/>
          <a:p>
            <a:r>
              <a:rPr lang="en-US"/>
              <a:t>Bài 4. </a:t>
            </a:r>
            <a:r>
              <a:rPr lang="vi-VN"/>
              <a:t>Mạng Nơ-ron Tích Chập (CNN)</a:t>
            </a:r>
            <a:endParaRPr lang="en-US"/>
          </a:p>
        </p:txBody>
      </p:sp>
    </p:spTree>
    <p:extLst>
      <p:ext uri="{BB962C8B-B14F-4D97-AF65-F5344CB8AC3E}">
        <p14:creationId xmlns:p14="http://schemas.microsoft.com/office/powerpoint/2010/main" val="4180960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86B6F-2149-0E16-3434-EAB948C5F960}"/>
              </a:ext>
            </a:extLst>
          </p:cNvPr>
          <p:cNvSpPr>
            <a:spLocks noGrp="1"/>
          </p:cNvSpPr>
          <p:nvPr>
            <p:ph type="title"/>
          </p:nvPr>
        </p:nvSpPr>
        <p:spPr/>
        <p:txBody>
          <a:bodyPr/>
          <a:lstStyle/>
          <a:p>
            <a:r>
              <a:rPr lang="en-US"/>
              <a:t>Mạng nơ-ron tích chập</a:t>
            </a:r>
          </a:p>
        </p:txBody>
      </p:sp>
      <p:sp>
        <p:nvSpPr>
          <p:cNvPr id="3" name="Content Placeholder 2">
            <a:extLst>
              <a:ext uri="{FF2B5EF4-FFF2-40B4-BE49-F238E27FC236}">
                <a16:creationId xmlns:a16="http://schemas.microsoft.com/office/drawing/2014/main" id="{E8E38DBD-A214-12F1-BC6C-B13FC78C3CF7}"/>
              </a:ext>
            </a:extLst>
          </p:cNvPr>
          <p:cNvSpPr>
            <a:spLocks noGrp="1"/>
          </p:cNvSpPr>
          <p:nvPr>
            <p:ph idx="1"/>
          </p:nvPr>
        </p:nvSpPr>
        <p:spPr/>
        <p:txBody>
          <a:bodyPr/>
          <a:lstStyle/>
          <a:p>
            <a:pPr algn="just">
              <a:lnSpc>
                <a:spcPct val="200000"/>
              </a:lnSpc>
            </a:pPr>
            <a:r>
              <a:rPr lang="vi-VN" b="1"/>
              <a:t>Mạng nơ-ron tích chập (Convolutional Neural Network - CNN) </a:t>
            </a:r>
            <a:r>
              <a:rPr lang="vi-VN"/>
              <a:t>là một loại mạng nơ-ron đặc biệt được thiết kế để xử lý dữ liệu có cấu trúc lưới, đặc biệt là hình ảnh. CNN đã trở thành công nghệ nền tảng trong lĩnh vực thị giác máy tính (Computer Vision) và nhiều ứng dụng xử lý hình ảnh khác.</a:t>
            </a:r>
            <a:endParaRPr lang="en-US"/>
          </a:p>
        </p:txBody>
      </p:sp>
      <p:sp>
        <p:nvSpPr>
          <p:cNvPr id="4" name="Footer Placeholder 3">
            <a:extLst>
              <a:ext uri="{FF2B5EF4-FFF2-40B4-BE49-F238E27FC236}">
                <a16:creationId xmlns:a16="http://schemas.microsoft.com/office/drawing/2014/main" id="{4146AC94-8A97-2EB2-2BD6-0308E4D03096}"/>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095241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7B9B8-9D75-857C-EE78-C6D3D3CAF081}"/>
              </a:ext>
            </a:extLst>
          </p:cNvPr>
          <p:cNvSpPr>
            <a:spLocks noGrp="1"/>
          </p:cNvSpPr>
          <p:nvPr>
            <p:ph type="title"/>
          </p:nvPr>
        </p:nvSpPr>
        <p:spPr/>
        <p:txBody>
          <a:bodyPr/>
          <a:lstStyle/>
          <a:p>
            <a:r>
              <a:rPr lang="en-US"/>
              <a:t>1.1. Tại sao cần CNN?</a:t>
            </a:r>
          </a:p>
        </p:txBody>
      </p:sp>
      <p:sp>
        <p:nvSpPr>
          <p:cNvPr id="3" name="Content Placeholder 2">
            <a:extLst>
              <a:ext uri="{FF2B5EF4-FFF2-40B4-BE49-F238E27FC236}">
                <a16:creationId xmlns:a16="http://schemas.microsoft.com/office/drawing/2014/main" id="{A21717FB-8A28-A379-D48F-712480B30B5C}"/>
              </a:ext>
            </a:extLst>
          </p:cNvPr>
          <p:cNvSpPr>
            <a:spLocks noGrp="1"/>
          </p:cNvSpPr>
          <p:nvPr>
            <p:ph idx="1"/>
          </p:nvPr>
        </p:nvSpPr>
        <p:spPr/>
        <p:txBody>
          <a:bodyPr>
            <a:normAutofit fontScale="92500" lnSpcReduction="10000"/>
          </a:bodyPr>
          <a:lstStyle/>
          <a:p>
            <a:pPr algn="just">
              <a:lnSpc>
                <a:spcPct val="150000"/>
              </a:lnSpc>
            </a:pPr>
            <a:r>
              <a:rPr lang="vi-VN" sz="2400"/>
              <a:t>Mạng nơ-ron thông thường (Fully Connected Neural Network) gặp phải một số hạn chế khi xử lý hình ảnh:</a:t>
            </a:r>
            <a:endParaRPr lang="en-US" sz="2400"/>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Số lượng tham số lớn</a:t>
            </a:r>
            <a:r>
              <a:rPr kumimoji="0" lang="en-US" altLang="en-US" sz="2400" b="0" i="0" u="none" strike="noStrike" cap="none" normalizeH="0" baseline="0">
                <a:ln>
                  <a:noFill/>
                </a:ln>
                <a:solidFill>
                  <a:schemeClr val="tx1"/>
                </a:solidFill>
                <a:effectLst/>
                <a:latin typeface="Arial" panose="020B0604020202020204" pitchFamily="34" charset="0"/>
              </a:rPr>
              <a:t>: Một hình ảnh nhỏ 28x28 pixel đã cần 784 nơ-ron đầu vào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Không bảo toàn thông tin không gian</a:t>
            </a:r>
            <a:r>
              <a:rPr kumimoji="0" lang="en-US" altLang="en-US" sz="2400" b="0" i="0" u="none" strike="noStrike" cap="none" normalizeH="0" baseline="0">
                <a:ln>
                  <a:noFill/>
                </a:ln>
                <a:solidFill>
                  <a:schemeClr val="tx1"/>
                </a:solidFill>
                <a:effectLst/>
                <a:latin typeface="Arial" panose="020B0604020202020204" pitchFamily="34" charset="0"/>
              </a:rPr>
              <a:t>: Mất đi mối quan hệ giữa các pixel lân cận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Không bất biến với dịch chuyển</a:t>
            </a:r>
            <a:r>
              <a:rPr kumimoji="0" lang="en-US" altLang="en-US" sz="2400" b="0" i="0" u="none" strike="noStrike" cap="none" normalizeH="0" baseline="0">
                <a:ln>
                  <a:noFill/>
                </a:ln>
                <a:solidFill>
                  <a:schemeClr val="tx1"/>
                </a:solidFill>
                <a:effectLst/>
                <a:latin typeface="Arial" panose="020B0604020202020204" pitchFamily="34" charset="0"/>
              </a:rPr>
              <a:t>: Không nhận dạng được đối tượng khi vị trí thay đổi</a:t>
            </a:r>
            <a:endParaRPr lang="en-US" sz="2400"/>
          </a:p>
        </p:txBody>
      </p:sp>
      <p:sp>
        <p:nvSpPr>
          <p:cNvPr id="4" name="Footer Placeholder 3">
            <a:extLst>
              <a:ext uri="{FF2B5EF4-FFF2-40B4-BE49-F238E27FC236}">
                <a16:creationId xmlns:a16="http://schemas.microsoft.com/office/drawing/2014/main" id="{D9FFF652-6DDD-CAFC-DD4D-18AAFDE90906}"/>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870678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8C645-9601-A8E1-068B-A7DF375C9830}"/>
              </a:ext>
            </a:extLst>
          </p:cNvPr>
          <p:cNvSpPr>
            <a:spLocks noGrp="1"/>
          </p:cNvSpPr>
          <p:nvPr>
            <p:ph type="title"/>
          </p:nvPr>
        </p:nvSpPr>
        <p:spPr/>
        <p:txBody>
          <a:bodyPr/>
          <a:lstStyle/>
          <a:p>
            <a:r>
              <a:rPr lang="en-US"/>
              <a:t>CNN giải quyết những vấn đề này bằng cách:</a:t>
            </a:r>
          </a:p>
        </p:txBody>
      </p:sp>
      <p:sp>
        <p:nvSpPr>
          <p:cNvPr id="4" name="Footer Placeholder 3">
            <a:extLst>
              <a:ext uri="{FF2B5EF4-FFF2-40B4-BE49-F238E27FC236}">
                <a16:creationId xmlns:a16="http://schemas.microsoft.com/office/drawing/2014/main" id="{725B54C9-51FA-7CC1-1AC0-DFBB66DB3270}"/>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F035822B-AF77-CAFE-FE6F-74FD22311EBF}"/>
              </a:ext>
            </a:extLst>
          </p:cNvPr>
          <p:cNvSpPr>
            <a:spLocks noGrp="1" noChangeArrowheads="1"/>
          </p:cNvSpPr>
          <p:nvPr>
            <p:ph idx="1"/>
          </p:nvPr>
        </p:nvSpPr>
        <p:spPr bwMode="auto">
          <a:xfrm>
            <a:off x="822960" y="2057400"/>
            <a:ext cx="602280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Sử dụng các bộ lọc (filter) nhỏ thay vì kết nối đầy đủ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Bảo toàn thông tin không gian thông qua cấu trúc lưới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Tạo ra tính bất biến dịch chuyển (translation invariance) </a:t>
            </a:r>
          </a:p>
        </p:txBody>
      </p:sp>
      <p:pic>
        <p:nvPicPr>
          <p:cNvPr id="2054" name="Picture 6">
            <a:extLst>
              <a:ext uri="{FF2B5EF4-FFF2-40B4-BE49-F238E27FC236}">
                <a16:creationId xmlns:a16="http://schemas.microsoft.com/office/drawing/2014/main" id="{C3230DD9-491F-891C-812F-BF1741420F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61918"/>
          <a:stretch/>
        </p:blipFill>
        <p:spPr bwMode="auto">
          <a:xfrm>
            <a:off x="2679557" y="2980730"/>
            <a:ext cx="3962400" cy="3072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9173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C3B39-626F-965E-7F47-A78134C43900}"/>
              </a:ext>
            </a:extLst>
          </p:cNvPr>
          <p:cNvSpPr>
            <a:spLocks noGrp="1"/>
          </p:cNvSpPr>
          <p:nvPr>
            <p:ph type="title"/>
          </p:nvPr>
        </p:nvSpPr>
        <p:spPr/>
        <p:txBody>
          <a:bodyPr/>
          <a:lstStyle/>
          <a:p>
            <a:r>
              <a:rPr lang="en-US"/>
              <a:t>2. Cấu trúc của mạng CNN</a:t>
            </a:r>
          </a:p>
        </p:txBody>
      </p:sp>
      <p:sp>
        <p:nvSpPr>
          <p:cNvPr id="3" name="Content Placeholder 2">
            <a:extLst>
              <a:ext uri="{FF2B5EF4-FFF2-40B4-BE49-F238E27FC236}">
                <a16:creationId xmlns:a16="http://schemas.microsoft.com/office/drawing/2014/main" id="{4097E291-8218-89DF-131C-22CE686FF8E6}"/>
              </a:ext>
            </a:extLst>
          </p:cNvPr>
          <p:cNvSpPr>
            <a:spLocks noGrp="1"/>
          </p:cNvSpPr>
          <p:nvPr>
            <p:ph idx="1"/>
          </p:nvPr>
        </p:nvSpPr>
        <p:spPr>
          <a:xfrm>
            <a:off x="822959" y="1845734"/>
            <a:ext cx="7940041" cy="1812221"/>
          </a:xfrm>
        </p:spPr>
        <p:txBody>
          <a:bodyPr numCol="2">
            <a:normAutofit/>
          </a:bodyPr>
          <a:lstStyle/>
          <a:p>
            <a:r>
              <a:rPr lang="en-US"/>
              <a:t>Một mạng CNN điển hình bao gồm các lớp sau:</a:t>
            </a:r>
          </a:p>
          <a:p>
            <a:pPr>
              <a:buFont typeface="Wingdings" panose="05000000000000000000" pitchFamily="2" charset="2"/>
              <a:buChar char="q"/>
            </a:pPr>
            <a:r>
              <a:rPr lang="en-US"/>
              <a:t>Lớp tích chập (Convolutional Layer)</a:t>
            </a:r>
          </a:p>
          <a:p>
            <a:pPr>
              <a:buFont typeface="Wingdings" panose="05000000000000000000" pitchFamily="2" charset="2"/>
              <a:buChar char="q"/>
            </a:pPr>
            <a:r>
              <a:rPr lang="en-US"/>
              <a:t>Hàm kích hoạt (Activation Function)</a:t>
            </a:r>
          </a:p>
          <a:p>
            <a:pPr>
              <a:buFont typeface="Wingdings" panose="05000000000000000000" pitchFamily="2" charset="2"/>
              <a:buChar char="q"/>
            </a:pPr>
            <a:r>
              <a:rPr lang="en-US"/>
              <a:t>Lớp gộp (Pooling Layer)</a:t>
            </a:r>
          </a:p>
          <a:p>
            <a:pPr>
              <a:buFont typeface="Wingdings" panose="05000000000000000000" pitchFamily="2" charset="2"/>
              <a:buChar char="q"/>
            </a:pPr>
            <a:r>
              <a:rPr lang="en-US"/>
              <a:t>Lớp Dropout</a:t>
            </a:r>
          </a:p>
          <a:p>
            <a:pPr>
              <a:buFont typeface="Wingdings" panose="05000000000000000000" pitchFamily="2" charset="2"/>
              <a:buChar char="q"/>
            </a:pPr>
            <a:r>
              <a:rPr lang="en-US"/>
              <a:t>Lớp kết nối đầy đủ (Fully Connected Layer)</a:t>
            </a:r>
          </a:p>
        </p:txBody>
      </p:sp>
      <p:sp>
        <p:nvSpPr>
          <p:cNvPr id="4" name="Footer Placeholder 3">
            <a:extLst>
              <a:ext uri="{FF2B5EF4-FFF2-40B4-BE49-F238E27FC236}">
                <a16:creationId xmlns:a16="http://schemas.microsoft.com/office/drawing/2014/main" id="{049F8F68-B76C-0B66-D069-6B40ADB571C4}"/>
              </a:ext>
            </a:extLst>
          </p:cNvPr>
          <p:cNvSpPr>
            <a:spLocks noGrp="1"/>
          </p:cNvSpPr>
          <p:nvPr>
            <p:ph type="ftr" sz="quarter" idx="11"/>
          </p:nvPr>
        </p:nvSpPr>
        <p:spPr/>
        <p:txBody>
          <a:bodyPr/>
          <a:lstStyle/>
          <a:p>
            <a:r>
              <a:rPr lang="en-US"/>
              <a:t>ThS. Lê Nhật Tùng</a:t>
            </a:r>
          </a:p>
        </p:txBody>
      </p:sp>
      <p:pic>
        <p:nvPicPr>
          <p:cNvPr id="5122" name="Picture 2">
            <a:extLst>
              <a:ext uri="{FF2B5EF4-FFF2-40B4-BE49-F238E27FC236}">
                <a16:creationId xmlns:a16="http://schemas.microsoft.com/office/drawing/2014/main" id="{288B40C7-E10C-34E0-9E0A-BCF5903B07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608" y="3543300"/>
            <a:ext cx="8206741" cy="2677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2335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94F63-FB89-B4D9-3CEF-8547F45D43DC}"/>
              </a:ext>
            </a:extLst>
          </p:cNvPr>
          <p:cNvSpPr>
            <a:spLocks noGrp="1"/>
          </p:cNvSpPr>
          <p:nvPr>
            <p:ph type="title"/>
          </p:nvPr>
        </p:nvSpPr>
        <p:spPr/>
        <p:txBody>
          <a:bodyPr/>
          <a:lstStyle/>
          <a:p>
            <a:pPr algn="ctr"/>
            <a:r>
              <a:rPr lang="en-US"/>
              <a:t>2.1. </a:t>
            </a:r>
            <a:r>
              <a:rPr lang="en-US" sz="4800"/>
              <a:t>Phép tích chập</a:t>
            </a:r>
            <a:endParaRPr lang="en-US"/>
          </a:p>
        </p:txBody>
      </p:sp>
      <p:sp>
        <p:nvSpPr>
          <p:cNvPr id="3" name="Content Placeholder 2">
            <a:extLst>
              <a:ext uri="{FF2B5EF4-FFF2-40B4-BE49-F238E27FC236}">
                <a16:creationId xmlns:a16="http://schemas.microsoft.com/office/drawing/2014/main" id="{4C6FB70F-2418-7D1C-A979-58E1E8FD5D4D}"/>
              </a:ext>
            </a:extLst>
          </p:cNvPr>
          <p:cNvSpPr>
            <a:spLocks noGrp="1"/>
          </p:cNvSpPr>
          <p:nvPr>
            <p:ph idx="1"/>
          </p:nvPr>
        </p:nvSpPr>
        <p:spPr/>
        <p:txBody>
          <a:bodyPr>
            <a:normAutofit/>
          </a:bodyPr>
          <a:lstStyle/>
          <a:p>
            <a:pPr>
              <a:buNone/>
            </a:pPr>
            <a:r>
              <a:rPr lang="en-US" sz="2400"/>
              <a:t>Phép tích chập</a:t>
            </a:r>
            <a:endParaRPr lang="vi-VN" sz="2400"/>
          </a:p>
          <a:p>
            <a:pPr>
              <a:buFont typeface="Arial" panose="020B0604020202020204" pitchFamily="34" charset="0"/>
              <a:buChar char="•"/>
            </a:pPr>
            <a:r>
              <a:rPr lang="vi-VN" sz="2400"/>
              <a:t>Sử dụng các bộ lọc (kernel/filter) nhỏ (thường là 3x3 hoặc 5x5)</a:t>
            </a:r>
          </a:p>
          <a:p>
            <a:pPr>
              <a:buFont typeface="Arial" panose="020B0604020202020204" pitchFamily="34" charset="0"/>
              <a:buChar char="•"/>
            </a:pPr>
            <a:r>
              <a:rPr lang="vi-VN" sz="2400"/>
              <a:t>Trượt (slide) bộ lọc qua toàn bộ hình ảnh đầu vào</a:t>
            </a:r>
          </a:p>
          <a:p>
            <a:pPr>
              <a:buFont typeface="Arial" panose="020B0604020202020204" pitchFamily="34" charset="0"/>
              <a:buChar char="•"/>
            </a:pPr>
            <a:r>
              <a:rPr lang="vi-VN" sz="2400"/>
              <a:t>Tại mỗi vị trí, thực hiện phép tích chập: nhân từng phần tử của bộ lọc với vùng tương ứng trên hình ảnh và cộng lại</a:t>
            </a:r>
          </a:p>
        </p:txBody>
      </p:sp>
      <p:sp>
        <p:nvSpPr>
          <p:cNvPr id="4" name="Footer Placeholder 3">
            <a:extLst>
              <a:ext uri="{FF2B5EF4-FFF2-40B4-BE49-F238E27FC236}">
                <a16:creationId xmlns:a16="http://schemas.microsoft.com/office/drawing/2014/main" id="{DF95CF27-FF7B-AC5D-F4C1-5082299ECDDE}"/>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466992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37BEF-7BA9-9DA0-643E-F157978E096E}"/>
              </a:ext>
            </a:extLst>
          </p:cNvPr>
          <p:cNvSpPr>
            <a:spLocks noGrp="1"/>
          </p:cNvSpPr>
          <p:nvPr>
            <p:ph type="title"/>
          </p:nvPr>
        </p:nvSpPr>
        <p:spPr/>
        <p:txBody>
          <a:bodyPr/>
          <a:lstStyle/>
          <a:p>
            <a:pPr algn="ctr"/>
            <a:r>
              <a:rPr lang="en-US"/>
              <a:t>Bộ lọc</a:t>
            </a:r>
          </a:p>
        </p:txBody>
      </p:sp>
      <p:sp>
        <p:nvSpPr>
          <p:cNvPr id="3" name="Content Placeholder 2">
            <a:extLst>
              <a:ext uri="{FF2B5EF4-FFF2-40B4-BE49-F238E27FC236}">
                <a16:creationId xmlns:a16="http://schemas.microsoft.com/office/drawing/2014/main" id="{9CA9FFA5-3D0F-C874-8345-A8F20F7E4B39}"/>
              </a:ext>
            </a:extLst>
          </p:cNvPr>
          <p:cNvSpPr>
            <a:spLocks noGrp="1"/>
          </p:cNvSpPr>
          <p:nvPr>
            <p:ph idx="1"/>
          </p:nvPr>
        </p:nvSpPr>
        <p:spPr/>
        <p:txBody>
          <a:bodyPr>
            <a:normAutofit/>
          </a:bodyPr>
          <a:lstStyle/>
          <a:p>
            <a:pPr algn="just"/>
            <a:r>
              <a:rPr lang="vi-VN"/>
              <a:t>Bộ lọc (hay còn gọi là kernel hoặc filter) trong mạng nơ-ron tích chập (CNN) là một ma trận nhỏ với các trọng số (weight) mà mạng nơ-ron học được trong quá trình huấn luyện. Đây là một khái niệm cốt lõi trong CNN, thực hiện chức năng trích xuất đặc trưng từ dữ liệu đầu vào. </a:t>
            </a:r>
            <a:endParaRPr lang="en-US"/>
          </a:p>
          <a:p>
            <a:pPr algn="just"/>
            <a:r>
              <a:rPr lang="vi-VN"/>
              <a:t>Bộ lọc là một ma trận nhỏ (thường có kích thước 3x3, 5x5, hoặc 7x7) chứa các giá trị trọng số.</a:t>
            </a:r>
            <a:endParaRPr lang="en-US"/>
          </a:p>
        </p:txBody>
      </p:sp>
      <p:sp>
        <p:nvSpPr>
          <p:cNvPr id="4" name="Footer Placeholder 3">
            <a:extLst>
              <a:ext uri="{FF2B5EF4-FFF2-40B4-BE49-F238E27FC236}">
                <a16:creationId xmlns:a16="http://schemas.microsoft.com/office/drawing/2014/main" id="{1550515F-22BB-52AA-BAF4-434F3FCB0C60}"/>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EC09315F-7097-712B-A8B5-1E1A1F8E563F}"/>
              </a:ext>
            </a:extLst>
          </p:cNvPr>
          <p:cNvPicPr>
            <a:picLocks noChangeAspect="1"/>
          </p:cNvPicPr>
          <p:nvPr/>
        </p:nvPicPr>
        <p:blipFill>
          <a:blip r:embed="rId2"/>
          <a:stretch>
            <a:fillRect/>
          </a:stretch>
        </p:blipFill>
        <p:spPr>
          <a:xfrm>
            <a:off x="4305300" y="3884508"/>
            <a:ext cx="1866900" cy="2242874"/>
          </a:xfrm>
          <a:prstGeom prst="rect">
            <a:avLst/>
          </a:prstGeom>
        </p:spPr>
      </p:pic>
    </p:spTree>
    <p:extLst>
      <p:ext uri="{BB962C8B-B14F-4D97-AF65-F5344CB8AC3E}">
        <p14:creationId xmlns:p14="http://schemas.microsoft.com/office/powerpoint/2010/main" val="1431416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517EEC4-52CC-89AC-D669-B32A6047A68B}"/>
              </a:ext>
            </a:extLst>
          </p:cNvPr>
          <p:cNvSpPr>
            <a:spLocks noGrp="1"/>
          </p:cNvSpPr>
          <p:nvPr>
            <p:ph type="ftr" sz="quarter" idx="11"/>
          </p:nvPr>
        </p:nvSpPr>
        <p:spPr/>
        <p:txBody>
          <a:bodyPr/>
          <a:lstStyle/>
          <a:p>
            <a:r>
              <a:rPr lang="en-US"/>
              <a:t>ThS. Lê Nhật Tùng</a:t>
            </a:r>
          </a:p>
        </p:txBody>
      </p:sp>
      <p:pic>
        <p:nvPicPr>
          <p:cNvPr id="4100" name="Picture 4">
            <a:extLst>
              <a:ext uri="{FF2B5EF4-FFF2-40B4-BE49-F238E27FC236}">
                <a16:creationId xmlns:a16="http://schemas.microsoft.com/office/drawing/2014/main" id="{DD2CAE2E-54BF-E0C8-2B18-1F7FAE6FB7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171700"/>
            <a:ext cx="7381846" cy="3100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557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8440F94C-2C62-71DC-E50A-3ABDD85F25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533400"/>
            <a:ext cx="7429500" cy="5407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5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8408B-4DB1-9B3F-742C-70E1720D1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77B03-920E-F29C-F970-7A5DAFE34697}"/>
              </a:ext>
            </a:extLst>
          </p:cNvPr>
          <p:cNvSpPr>
            <a:spLocks noGrp="1"/>
          </p:cNvSpPr>
          <p:nvPr>
            <p:ph type="title"/>
          </p:nvPr>
        </p:nvSpPr>
        <p:spPr/>
        <p:txBody>
          <a:bodyPr/>
          <a:lstStyle/>
          <a:p>
            <a:pPr algn="ctr"/>
            <a:r>
              <a:rPr lang="en-US"/>
              <a:t>Bộ lọc</a:t>
            </a:r>
          </a:p>
        </p:txBody>
      </p:sp>
      <p:sp>
        <p:nvSpPr>
          <p:cNvPr id="4" name="Footer Placeholder 3">
            <a:extLst>
              <a:ext uri="{FF2B5EF4-FFF2-40B4-BE49-F238E27FC236}">
                <a16:creationId xmlns:a16="http://schemas.microsoft.com/office/drawing/2014/main" id="{F6C757BF-FB9A-47A1-20F5-926ED00C297C}"/>
              </a:ext>
            </a:extLst>
          </p:cNvPr>
          <p:cNvSpPr>
            <a:spLocks noGrp="1"/>
          </p:cNvSpPr>
          <p:nvPr>
            <p:ph type="ftr" sz="quarter" idx="11"/>
          </p:nvPr>
        </p:nvSpPr>
        <p:spPr/>
        <p:txBody>
          <a:bodyPr/>
          <a:lstStyle/>
          <a:p>
            <a:r>
              <a:rPr lang="en-US"/>
              <a:t>ThS. Lê Nhật Tùng</a:t>
            </a:r>
          </a:p>
        </p:txBody>
      </p:sp>
      <p:sp>
        <p:nvSpPr>
          <p:cNvPr id="6" name="Rectangle 2">
            <a:extLst>
              <a:ext uri="{FF2B5EF4-FFF2-40B4-BE49-F238E27FC236}">
                <a16:creationId xmlns:a16="http://schemas.microsoft.com/office/drawing/2014/main" id="{5C01B56D-DAE3-6D0F-F8B0-82C4063CE759}"/>
              </a:ext>
            </a:extLst>
          </p:cNvPr>
          <p:cNvSpPr>
            <a:spLocks noGrp="1" noChangeArrowheads="1"/>
          </p:cNvSpPr>
          <p:nvPr>
            <p:ph idx="1"/>
          </p:nvPr>
        </p:nvSpPr>
        <p:spPr bwMode="auto">
          <a:xfrm>
            <a:off x="822960" y="1206311"/>
            <a:ext cx="7543800" cy="4536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a:ln>
                  <a:noFill/>
                </a:ln>
                <a:solidFill>
                  <a:schemeClr val="tx1"/>
                </a:solidFill>
                <a:effectLst/>
                <a:latin typeface="Arial" panose="020B0604020202020204" pitchFamily="34" charset="0"/>
              </a:rPr>
              <a:t>Mỗi bộ lọc được thiết kế để phát hiện một đặc trưng cụ thể trong hình ảnh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a:ln>
                  <a:noFill/>
                </a:ln>
                <a:solidFill>
                  <a:schemeClr val="tx1"/>
                </a:solidFill>
                <a:effectLst/>
                <a:latin typeface="Arial" panose="020B0604020202020204" pitchFamily="34" charset="0"/>
              </a:rPr>
              <a:t>Các bộ lọc ở tầng đầu thường phát hiện đặc trưng đơn giản như cạnh, góc, đường thẳng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a:ln>
                  <a:noFill/>
                </a:ln>
                <a:solidFill>
                  <a:schemeClr val="tx1"/>
                </a:solidFill>
                <a:effectLst/>
                <a:latin typeface="Arial" panose="020B0604020202020204" pitchFamily="34" charset="0"/>
              </a:rPr>
              <a:t>Các bộ lọc ở tầng sau phát hiện đặc trưng phức tạp hơn như mắt, mũi, bánh xe, v.v. </a:t>
            </a:r>
          </a:p>
        </p:txBody>
      </p:sp>
    </p:spTree>
    <p:extLst>
      <p:ext uri="{BB962C8B-B14F-4D97-AF65-F5344CB8AC3E}">
        <p14:creationId xmlns:p14="http://schemas.microsoft.com/office/powerpoint/2010/main" val="4010683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3DFE0-BD37-E326-0516-082694986746}"/>
              </a:ext>
            </a:extLst>
          </p:cNvPr>
          <p:cNvSpPr>
            <a:spLocks noGrp="1"/>
          </p:cNvSpPr>
          <p:nvPr>
            <p:ph type="title"/>
          </p:nvPr>
        </p:nvSpPr>
        <p:spPr/>
        <p:txBody>
          <a:bodyPr>
            <a:normAutofit/>
          </a:bodyPr>
          <a:lstStyle/>
          <a:p>
            <a:pPr algn="ctr"/>
            <a:r>
              <a:rPr lang="vi-VN"/>
              <a:t>Stride (Bước nhảy)</a:t>
            </a:r>
            <a:endParaRPr lang="en-US"/>
          </a:p>
        </p:txBody>
      </p:sp>
      <p:sp>
        <p:nvSpPr>
          <p:cNvPr id="3" name="Content Placeholder 2">
            <a:extLst>
              <a:ext uri="{FF2B5EF4-FFF2-40B4-BE49-F238E27FC236}">
                <a16:creationId xmlns:a16="http://schemas.microsoft.com/office/drawing/2014/main" id="{8C223DE3-6779-7B48-53D9-89938D3BBBCB}"/>
              </a:ext>
            </a:extLst>
          </p:cNvPr>
          <p:cNvSpPr>
            <a:spLocks noGrp="1"/>
          </p:cNvSpPr>
          <p:nvPr>
            <p:ph idx="1"/>
          </p:nvPr>
        </p:nvSpPr>
        <p:spPr/>
        <p:txBody>
          <a:bodyPr>
            <a:normAutofit/>
          </a:bodyPr>
          <a:lstStyle/>
          <a:p>
            <a:pPr>
              <a:buNone/>
            </a:pPr>
            <a:r>
              <a:rPr lang="vi-VN" sz="1800" b="1"/>
              <a:t>Stride</a:t>
            </a:r>
            <a:r>
              <a:rPr lang="vi-VN" sz="1800"/>
              <a:t> là khoảng cách (số pixel) mà bộ lọc di chuyển sau mỗi lần tính toán trong quá trình tích chập.</a:t>
            </a:r>
          </a:p>
          <a:p>
            <a:pPr>
              <a:buFont typeface="Arial" panose="020B0604020202020204" pitchFamily="34" charset="0"/>
              <a:buChar char="•"/>
            </a:pPr>
            <a:r>
              <a:rPr lang="vi-VN" sz="1800" b="1"/>
              <a:t>Stride = 1</a:t>
            </a:r>
            <a:r>
              <a:rPr lang="vi-VN" sz="1800"/>
              <a:t>: Bộ lọc di chuyển 1 pixel mỗi lần (tiêu chuẩn)</a:t>
            </a:r>
          </a:p>
          <a:p>
            <a:pPr>
              <a:buFont typeface="Arial" panose="020B0604020202020204" pitchFamily="34" charset="0"/>
              <a:buChar char="•"/>
            </a:pPr>
            <a:r>
              <a:rPr lang="vi-VN" sz="1800" b="1"/>
              <a:t>Stride = 2</a:t>
            </a:r>
            <a:r>
              <a:rPr lang="vi-VN" sz="1800"/>
              <a:t>: Bộ lọc di chuyển 2 pixel mỗi lần (giảm kích thước đầu ra)</a:t>
            </a:r>
          </a:p>
          <a:p>
            <a:endParaRPr lang="en-US" sz="1800"/>
          </a:p>
        </p:txBody>
      </p:sp>
      <p:sp>
        <p:nvSpPr>
          <p:cNvPr id="4" name="Footer Placeholder 3">
            <a:extLst>
              <a:ext uri="{FF2B5EF4-FFF2-40B4-BE49-F238E27FC236}">
                <a16:creationId xmlns:a16="http://schemas.microsoft.com/office/drawing/2014/main" id="{0D6844D9-CD91-0B61-8E24-6A038AF66AF9}"/>
              </a:ext>
            </a:extLst>
          </p:cNvPr>
          <p:cNvSpPr>
            <a:spLocks noGrp="1"/>
          </p:cNvSpPr>
          <p:nvPr>
            <p:ph type="ftr" sz="quarter" idx="11"/>
          </p:nvPr>
        </p:nvSpPr>
        <p:spPr/>
        <p:txBody>
          <a:bodyPr/>
          <a:lstStyle/>
          <a:p>
            <a:r>
              <a:rPr lang="en-US"/>
              <a:t>ThS. Lê Nhật Tùng</a:t>
            </a:r>
          </a:p>
        </p:txBody>
      </p:sp>
      <p:pic>
        <p:nvPicPr>
          <p:cNvPr id="8194" name="Picture 2" descr="Convolutional Neural Networks. Basic fundamentals of CNN | by Vedant Kumar  | TDS Archive | Medium">
            <a:extLst>
              <a:ext uri="{FF2B5EF4-FFF2-40B4-BE49-F238E27FC236}">
                <a16:creationId xmlns:a16="http://schemas.microsoft.com/office/drawing/2014/main" id="{33D111BB-1890-BD50-04A2-85B6BF40F7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 y="3429000"/>
            <a:ext cx="6915150" cy="2924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180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BBEA4-D872-E99C-21F7-EBD6800A9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DA53E-C147-1F30-9D1C-EA28B8B6D5CF}"/>
              </a:ext>
            </a:extLst>
          </p:cNvPr>
          <p:cNvSpPr>
            <a:spLocks noGrp="1"/>
          </p:cNvSpPr>
          <p:nvPr>
            <p:ph type="title"/>
          </p:nvPr>
        </p:nvSpPr>
        <p:spPr/>
        <p:txBody>
          <a:bodyPr>
            <a:normAutofit/>
          </a:bodyPr>
          <a:lstStyle/>
          <a:p>
            <a:pPr algn="ctr"/>
            <a:r>
              <a:rPr lang="vi-VN"/>
              <a:t>Stride (Bước nhảy)</a:t>
            </a:r>
            <a:endParaRPr lang="en-US"/>
          </a:p>
        </p:txBody>
      </p:sp>
      <p:sp>
        <p:nvSpPr>
          <p:cNvPr id="3" name="Content Placeholder 2">
            <a:extLst>
              <a:ext uri="{FF2B5EF4-FFF2-40B4-BE49-F238E27FC236}">
                <a16:creationId xmlns:a16="http://schemas.microsoft.com/office/drawing/2014/main" id="{BC4E48F2-498C-06E6-9D58-9FA4030632FB}"/>
              </a:ext>
            </a:extLst>
          </p:cNvPr>
          <p:cNvSpPr>
            <a:spLocks noGrp="1"/>
          </p:cNvSpPr>
          <p:nvPr>
            <p:ph idx="1"/>
          </p:nvPr>
        </p:nvSpPr>
        <p:spPr/>
        <p:txBody>
          <a:bodyPr>
            <a:normAutofit/>
          </a:bodyPr>
          <a:lstStyle/>
          <a:p>
            <a:pPr>
              <a:buNone/>
            </a:pPr>
            <a:r>
              <a:rPr lang="vi-VN" sz="2800" b="1"/>
              <a:t>Ảnh hưởng của stride:</a:t>
            </a:r>
            <a:endParaRPr lang="vi-VN" sz="2800"/>
          </a:p>
          <a:p>
            <a:pPr>
              <a:buFont typeface="Arial" panose="020B0604020202020204" pitchFamily="34" charset="0"/>
              <a:buChar char="•"/>
            </a:pPr>
            <a:r>
              <a:rPr lang="en-US" sz="2800"/>
              <a:t> </a:t>
            </a:r>
            <a:r>
              <a:rPr lang="vi-VN" sz="2800"/>
              <a:t>Stride lớn hơn giúp giảm kích thước đầu ra (downsampling)</a:t>
            </a:r>
          </a:p>
          <a:p>
            <a:pPr>
              <a:buFont typeface="Arial" panose="020B0604020202020204" pitchFamily="34" charset="0"/>
              <a:buChar char="•"/>
            </a:pPr>
            <a:r>
              <a:rPr lang="en-US" sz="2800"/>
              <a:t> </a:t>
            </a:r>
            <a:r>
              <a:rPr lang="vi-VN" sz="2800"/>
              <a:t>Giảm thời gian tính toán</a:t>
            </a:r>
          </a:p>
          <a:p>
            <a:pPr>
              <a:buFont typeface="Arial" panose="020B0604020202020204" pitchFamily="34" charset="0"/>
              <a:buChar char="•"/>
            </a:pPr>
            <a:r>
              <a:rPr lang="en-US" sz="2800"/>
              <a:t> </a:t>
            </a:r>
            <a:r>
              <a:rPr lang="vi-VN" sz="2800"/>
              <a:t>Có thể làm mất thông tin nếu stride quá lớn</a:t>
            </a:r>
          </a:p>
        </p:txBody>
      </p:sp>
      <p:sp>
        <p:nvSpPr>
          <p:cNvPr id="4" name="Footer Placeholder 3">
            <a:extLst>
              <a:ext uri="{FF2B5EF4-FFF2-40B4-BE49-F238E27FC236}">
                <a16:creationId xmlns:a16="http://schemas.microsoft.com/office/drawing/2014/main" id="{3D277558-DE4D-242D-D2CE-8DEA36BBCF5E}"/>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6561130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A3F6A-4049-7B7D-3D58-DBE5A0A22FFB}"/>
              </a:ext>
            </a:extLst>
          </p:cNvPr>
          <p:cNvSpPr>
            <a:spLocks noGrp="1"/>
          </p:cNvSpPr>
          <p:nvPr>
            <p:ph type="title"/>
          </p:nvPr>
        </p:nvSpPr>
        <p:spPr/>
        <p:txBody>
          <a:bodyPr/>
          <a:lstStyle/>
          <a:p>
            <a:pPr algn="ctr"/>
            <a:r>
              <a:rPr lang="en-US"/>
              <a:t>Padding (Đệm)</a:t>
            </a:r>
          </a:p>
        </p:txBody>
      </p:sp>
      <p:sp>
        <p:nvSpPr>
          <p:cNvPr id="3" name="Content Placeholder 2">
            <a:extLst>
              <a:ext uri="{FF2B5EF4-FFF2-40B4-BE49-F238E27FC236}">
                <a16:creationId xmlns:a16="http://schemas.microsoft.com/office/drawing/2014/main" id="{CCE27225-E822-CA9F-539B-C976C106C047}"/>
              </a:ext>
            </a:extLst>
          </p:cNvPr>
          <p:cNvSpPr>
            <a:spLocks noGrp="1"/>
          </p:cNvSpPr>
          <p:nvPr>
            <p:ph idx="1"/>
          </p:nvPr>
        </p:nvSpPr>
        <p:spPr/>
        <p:txBody>
          <a:bodyPr/>
          <a:lstStyle/>
          <a:p>
            <a:pPr>
              <a:buNone/>
            </a:pPr>
            <a:r>
              <a:rPr lang="vi-VN" b="1"/>
              <a:t>Padding</a:t>
            </a:r>
            <a:r>
              <a:rPr lang="vi-VN"/>
              <a:t> là quá trình thêm các pixel (thường là 0) xung quanh biên của hình ảnh đầu vào.</a:t>
            </a:r>
          </a:p>
          <a:p>
            <a:pPr>
              <a:buNone/>
            </a:pPr>
            <a:r>
              <a:rPr lang="vi-VN" b="1"/>
              <a:t>Mục đích của padding:</a:t>
            </a:r>
            <a:endParaRPr lang="vi-VN"/>
          </a:p>
          <a:p>
            <a:pPr>
              <a:buFont typeface="+mj-lt"/>
              <a:buAutoNum type="arabicPeriod"/>
            </a:pPr>
            <a:r>
              <a:rPr lang="vi-VN"/>
              <a:t>Giữ nguyên kích thước đầu ra sau phép tích chập</a:t>
            </a:r>
          </a:p>
          <a:p>
            <a:pPr>
              <a:buFont typeface="+mj-lt"/>
              <a:buAutoNum type="arabicPeriod"/>
            </a:pPr>
            <a:r>
              <a:rPr lang="vi-VN"/>
              <a:t>Giữ lại thông tin ở biên của ảnh đầu vào</a:t>
            </a:r>
          </a:p>
          <a:p>
            <a:pPr>
              <a:buNone/>
            </a:pPr>
            <a:r>
              <a:rPr lang="vi-VN" b="1"/>
              <a:t>Các loại padding:</a:t>
            </a:r>
            <a:endParaRPr lang="vi-VN"/>
          </a:p>
          <a:p>
            <a:pPr>
              <a:buFont typeface="Arial" panose="020B0604020202020204" pitchFamily="34" charset="0"/>
              <a:buChar char="•"/>
            </a:pPr>
            <a:r>
              <a:rPr lang="vi-VN" sz="1800" b="1"/>
              <a:t>Valid padding</a:t>
            </a:r>
            <a:r>
              <a:rPr lang="vi-VN" sz="1800"/>
              <a:t> (không padding): Kích thước đầu ra nhỏ hơn đầu vào</a:t>
            </a:r>
          </a:p>
          <a:p>
            <a:pPr>
              <a:buFont typeface="Arial" panose="020B0604020202020204" pitchFamily="34" charset="0"/>
              <a:buChar char="•"/>
            </a:pPr>
            <a:r>
              <a:rPr lang="vi-VN" sz="1800" b="1"/>
              <a:t>Same padding</a:t>
            </a:r>
            <a:r>
              <a:rPr lang="vi-VN" sz="1800"/>
              <a:t>: Thêm đủ padding để kích thước đầu ra bằng đầu vào</a:t>
            </a:r>
          </a:p>
          <a:p>
            <a:endParaRPr lang="en-US"/>
          </a:p>
        </p:txBody>
      </p:sp>
      <p:sp>
        <p:nvSpPr>
          <p:cNvPr id="4" name="Footer Placeholder 3">
            <a:extLst>
              <a:ext uri="{FF2B5EF4-FFF2-40B4-BE49-F238E27FC236}">
                <a16:creationId xmlns:a16="http://schemas.microsoft.com/office/drawing/2014/main" id="{A8355996-53C1-102B-3EBC-F161AE3D60E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941138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Convolutional Neural Network with input of 28x28 | Download Scientific  Diagram">
            <a:extLst>
              <a:ext uri="{FF2B5EF4-FFF2-40B4-BE49-F238E27FC236}">
                <a16:creationId xmlns:a16="http://schemas.microsoft.com/office/drawing/2014/main" id="{BD40F491-6374-53FF-E1D6-99C71172234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a:extLst>
              <a:ext uri="{FF2B5EF4-FFF2-40B4-BE49-F238E27FC236}">
                <a16:creationId xmlns:a16="http://schemas.microsoft.com/office/drawing/2014/main" id="{6864C4C5-2A6A-05DD-6F99-3519EBE25D07}"/>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6" name="Picture 8" descr="Zero-Padding in Convolutional Neural Networks | by Dharmaraj | Medium">
            <a:extLst>
              <a:ext uri="{FF2B5EF4-FFF2-40B4-BE49-F238E27FC236}">
                <a16:creationId xmlns:a16="http://schemas.microsoft.com/office/drawing/2014/main" id="{BAF5EDD5-C468-EBCD-4A95-D6EFA4EECD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1047750"/>
            <a:ext cx="8915400" cy="445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1138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D3759-6314-DEDA-E369-215986610290}"/>
              </a:ext>
            </a:extLst>
          </p:cNvPr>
          <p:cNvSpPr>
            <a:spLocks noGrp="1"/>
          </p:cNvSpPr>
          <p:nvPr>
            <p:ph type="title"/>
          </p:nvPr>
        </p:nvSpPr>
        <p:spPr/>
        <p:txBody>
          <a:bodyPr/>
          <a:lstStyle/>
          <a:p>
            <a:pPr algn="ctr"/>
            <a:r>
              <a:rPr lang="en-US"/>
              <a:t>2.2. Phép tính chập với dữ liệu có nhiều kênh chiều sâu</a:t>
            </a:r>
          </a:p>
        </p:txBody>
      </p:sp>
      <p:sp>
        <p:nvSpPr>
          <p:cNvPr id="3" name="Content Placeholder 2">
            <a:extLst>
              <a:ext uri="{FF2B5EF4-FFF2-40B4-BE49-F238E27FC236}">
                <a16:creationId xmlns:a16="http://schemas.microsoft.com/office/drawing/2014/main" id="{D1B8A5C5-7E50-C227-826D-5922DEABDCAA}"/>
              </a:ext>
            </a:extLst>
          </p:cNvPr>
          <p:cNvSpPr>
            <a:spLocks noGrp="1"/>
          </p:cNvSpPr>
          <p:nvPr>
            <p:ph idx="1"/>
          </p:nvPr>
        </p:nvSpPr>
        <p:spPr/>
        <p:txBody>
          <a:bodyPr/>
          <a:lstStyle/>
          <a:p>
            <a:pPr algn="just"/>
            <a:r>
              <a:rPr lang="vi-VN"/>
              <a:t>Trong thực tế, hình ảnh thường có nhiều kênh màu (ví dụ: RGB có 3 kênh). </a:t>
            </a:r>
            <a:endParaRPr lang="en-US"/>
          </a:p>
          <a:p>
            <a:pPr algn="just"/>
            <a:r>
              <a:rPr lang="vi-VN"/>
              <a:t>CNN xử lý dữ liệu đa kênh thông qua bộ lọc có cùng số kênh với đầu vào.</a:t>
            </a:r>
            <a:endParaRPr lang="en-US"/>
          </a:p>
        </p:txBody>
      </p:sp>
      <p:sp>
        <p:nvSpPr>
          <p:cNvPr id="4" name="Footer Placeholder 3">
            <a:extLst>
              <a:ext uri="{FF2B5EF4-FFF2-40B4-BE49-F238E27FC236}">
                <a16:creationId xmlns:a16="http://schemas.microsoft.com/office/drawing/2014/main" id="{31848CC9-6F74-7983-DA1C-95E36912673E}"/>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584084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4A03872-DA08-EF46-1F3E-CA05B02766AA}"/>
              </a:ext>
            </a:extLst>
          </p:cNvPr>
          <p:cNvSpPr txBox="1"/>
          <p:nvPr/>
        </p:nvSpPr>
        <p:spPr>
          <a:xfrm>
            <a:off x="800100" y="1981200"/>
            <a:ext cx="7467600" cy="3416320"/>
          </a:xfrm>
          <a:prstGeom prst="rect">
            <a:avLst/>
          </a:prstGeom>
          <a:noFill/>
        </p:spPr>
        <p:txBody>
          <a:bodyPr wrap="square">
            <a:spAutoFit/>
          </a:bodyPr>
          <a:lstStyle/>
          <a:p>
            <a:pPr>
              <a:buNone/>
            </a:pPr>
            <a:r>
              <a:rPr lang="vi-VN" b="1"/>
              <a:t>Nguyên lý hoạt động:</a:t>
            </a:r>
            <a:endParaRPr lang="vi-VN"/>
          </a:p>
          <a:p>
            <a:pPr>
              <a:buFont typeface="+mj-lt"/>
              <a:buAutoNum type="arabicPeriod"/>
            </a:pPr>
            <a:r>
              <a:rPr lang="vi-VN" b="1"/>
              <a:t>Đầu vào đa kênh</a:t>
            </a:r>
            <a:r>
              <a:rPr lang="vi-VN"/>
              <a:t>: Ví dụ, ảnh RGB có 3 kênh (kênh đỏ, kênh xanh lá, kênh xanh dương), mỗi kênh là một ma trận 2D.</a:t>
            </a:r>
            <a:endParaRPr lang="en-US"/>
          </a:p>
          <a:p>
            <a:pPr>
              <a:buFont typeface="+mj-lt"/>
              <a:buAutoNum type="arabicPeriod"/>
            </a:pPr>
            <a:endParaRPr lang="vi-VN"/>
          </a:p>
          <a:p>
            <a:pPr>
              <a:buFont typeface="+mj-lt"/>
              <a:buAutoNum type="arabicPeriod"/>
            </a:pPr>
            <a:r>
              <a:rPr lang="vi-VN" b="1"/>
              <a:t>Bộ lọc đa kênh</a:t>
            </a:r>
            <a:r>
              <a:rPr lang="vi-VN"/>
              <a:t>: Mỗi bộ lọc cũng có 3 kênh, tương ứng với 3 kênh của đầu vào.</a:t>
            </a:r>
            <a:endParaRPr lang="en-US"/>
          </a:p>
          <a:p>
            <a:pPr>
              <a:buFont typeface="+mj-lt"/>
              <a:buAutoNum type="arabicPeriod"/>
            </a:pPr>
            <a:endParaRPr lang="vi-VN"/>
          </a:p>
          <a:p>
            <a:pPr>
              <a:buFont typeface="+mj-lt"/>
              <a:buAutoNum type="arabicPeriod"/>
            </a:pPr>
            <a:r>
              <a:rPr lang="vi-VN" b="1"/>
              <a:t>Cách tính</a:t>
            </a:r>
            <a:r>
              <a:rPr lang="vi-VN"/>
              <a:t>: </a:t>
            </a:r>
          </a:p>
          <a:p>
            <a:pPr marL="742950" lvl="1" indent="-285750">
              <a:buFont typeface="+mj-lt"/>
              <a:buAutoNum type="arabicPeriod"/>
            </a:pPr>
            <a:r>
              <a:rPr lang="vi-VN"/>
              <a:t>Thực hiện phép tích chập riêng biệt giữa mỗi kênh của đầu vào với kênh tương ứng của bộ lọc</a:t>
            </a:r>
          </a:p>
          <a:p>
            <a:pPr marL="742950" lvl="1" indent="-285750">
              <a:buFont typeface="+mj-lt"/>
              <a:buAutoNum type="arabicPeriod"/>
            </a:pPr>
            <a:r>
              <a:rPr lang="vi-VN"/>
              <a:t>Cộng tất cả kết quả lại để tạo ra một feature map đầu ra duy nhất</a:t>
            </a:r>
          </a:p>
        </p:txBody>
      </p:sp>
      <p:sp>
        <p:nvSpPr>
          <p:cNvPr id="7" name="Title 1">
            <a:extLst>
              <a:ext uri="{FF2B5EF4-FFF2-40B4-BE49-F238E27FC236}">
                <a16:creationId xmlns:a16="http://schemas.microsoft.com/office/drawing/2014/main" id="{D955274A-B7C9-F712-5CD6-CA36295C0D55}"/>
              </a:ext>
            </a:extLst>
          </p:cNvPr>
          <p:cNvSpPr>
            <a:spLocks noGrp="1"/>
          </p:cNvSpPr>
          <p:nvPr>
            <p:ph type="title"/>
          </p:nvPr>
        </p:nvSpPr>
        <p:spPr>
          <a:xfrm>
            <a:off x="822960" y="286604"/>
            <a:ext cx="7543800" cy="1450757"/>
          </a:xfrm>
        </p:spPr>
        <p:txBody>
          <a:bodyPr/>
          <a:lstStyle/>
          <a:p>
            <a:pPr algn="ctr"/>
            <a:r>
              <a:rPr lang="en-US"/>
              <a:t>2.2. Phép tính chập với dữ liệu có nhiều kênh chiều sâu</a:t>
            </a:r>
          </a:p>
        </p:txBody>
      </p:sp>
    </p:spTree>
    <p:extLst>
      <p:ext uri="{BB962C8B-B14F-4D97-AF65-F5344CB8AC3E}">
        <p14:creationId xmlns:p14="http://schemas.microsoft.com/office/powerpoint/2010/main" val="2918409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NN | Chương 9: Giới thiệu mạng thần kinh tích chập (CNN) – Hung's Blog">
            <a:extLst>
              <a:ext uri="{FF2B5EF4-FFF2-40B4-BE49-F238E27FC236}">
                <a16:creationId xmlns:a16="http://schemas.microsoft.com/office/drawing/2014/main" id="{7D2FE136-A683-A6D4-D5E9-D5D65023D0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269" y="1866900"/>
            <a:ext cx="8239461" cy="38481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63E945C5-365E-3C15-6A7B-562E5507C6AA}"/>
              </a:ext>
            </a:extLst>
          </p:cNvPr>
          <p:cNvSpPr>
            <a:spLocks noGrp="1"/>
          </p:cNvSpPr>
          <p:nvPr>
            <p:ph type="title"/>
          </p:nvPr>
        </p:nvSpPr>
        <p:spPr>
          <a:xfrm>
            <a:off x="822960" y="286604"/>
            <a:ext cx="7543800" cy="1450757"/>
          </a:xfrm>
        </p:spPr>
        <p:txBody>
          <a:bodyPr/>
          <a:lstStyle/>
          <a:p>
            <a:pPr algn="ctr"/>
            <a:r>
              <a:rPr lang="en-US"/>
              <a:t>2.2. Phép tính chập với dữ liệu có nhiều kênh chiều sâu</a:t>
            </a:r>
          </a:p>
        </p:txBody>
      </p:sp>
    </p:spTree>
    <p:extLst>
      <p:ext uri="{BB962C8B-B14F-4D97-AF65-F5344CB8AC3E}">
        <p14:creationId xmlns:p14="http://schemas.microsoft.com/office/powerpoint/2010/main" val="598964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2C600-E441-9ABF-5A9F-164CEBA42DFE}"/>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97AE2880-7347-9A6E-0ACD-3457DCDB8F21}"/>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C815696C-F7FE-DB7D-E258-ACC42C62CB25}"/>
              </a:ext>
            </a:extLst>
          </p:cNvPr>
          <p:cNvPicPr>
            <a:picLocks noChangeAspect="1"/>
          </p:cNvPicPr>
          <p:nvPr/>
        </p:nvPicPr>
        <p:blipFill>
          <a:blip r:embed="rId2"/>
          <a:stretch>
            <a:fillRect/>
          </a:stretch>
        </p:blipFill>
        <p:spPr>
          <a:xfrm>
            <a:off x="685800" y="256353"/>
            <a:ext cx="4867954" cy="1705213"/>
          </a:xfrm>
          <a:prstGeom prst="rect">
            <a:avLst/>
          </a:prstGeom>
        </p:spPr>
      </p:pic>
      <p:pic>
        <p:nvPicPr>
          <p:cNvPr id="8" name="Picture 7">
            <a:extLst>
              <a:ext uri="{FF2B5EF4-FFF2-40B4-BE49-F238E27FC236}">
                <a16:creationId xmlns:a16="http://schemas.microsoft.com/office/drawing/2014/main" id="{7A15B8B6-CE02-E4D2-701F-79A52FDC127C}"/>
              </a:ext>
            </a:extLst>
          </p:cNvPr>
          <p:cNvPicPr>
            <a:picLocks noChangeAspect="1"/>
          </p:cNvPicPr>
          <p:nvPr/>
        </p:nvPicPr>
        <p:blipFill>
          <a:blip r:embed="rId3"/>
          <a:stretch>
            <a:fillRect/>
          </a:stretch>
        </p:blipFill>
        <p:spPr>
          <a:xfrm>
            <a:off x="685800" y="2023330"/>
            <a:ext cx="4867954" cy="1897922"/>
          </a:xfrm>
          <a:prstGeom prst="rect">
            <a:avLst/>
          </a:prstGeom>
        </p:spPr>
      </p:pic>
      <p:sp>
        <p:nvSpPr>
          <p:cNvPr id="10" name="TextBox 9">
            <a:extLst>
              <a:ext uri="{FF2B5EF4-FFF2-40B4-BE49-F238E27FC236}">
                <a16:creationId xmlns:a16="http://schemas.microsoft.com/office/drawing/2014/main" id="{4BB7733A-01AC-E9CB-2B27-4644E6BC91D3}"/>
              </a:ext>
            </a:extLst>
          </p:cNvPr>
          <p:cNvSpPr txBox="1"/>
          <p:nvPr/>
        </p:nvSpPr>
        <p:spPr>
          <a:xfrm>
            <a:off x="609600" y="4057208"/>
            <a:ext cx="7680960" cy="2126864"/>
          </a:xfrm>
          <a:prstGeom prst="rect">
            <a:avLst/>
          </a:prstGeom>
          <a:noFill/>
        </p:spPr>
        <p:txBody>
          <a:bodyPr wrap="square">
            <a:spAutoFit/>
          </a:bodyPr>
          <a:lstStyle/>
          <a:p>
            <a:pPr>
              <a:lnSpc>
                <a:spcPct val="150000"/>
              </a:lnSpc>
              <a:buNone/>
            </a:pPr>
            <a:r>
              <a:rPr lang="en-US"/>
              <a:t>Đầu ra tại vị trí (0,0) sẽ là tổng của 3 phép tích chập:</a:t>
            </a:r>
          </a:p>
          <a:p>
            <a:pPr>
              <a:lnSpc>
                <a:spcPct val="150000"/>
              </a:lnSpc>
              <a:buFont typeface="Arial" panose="020B0604020202020204" pitchFamily="34" charset="0"/>
              <a:buChar char="•"/>
            </a:pPr>
            <a:r>
              <a:rPr lang="en-US"/>
              <a:t>Tích chập kênh R: (1×1) + (2×0) + ... = 35</a:t>
            </a:r>
          </a:p>
          <a:p>
            <a:pPr>
              <a:lnSpc>
                <a:spcPct val="150000"/>
              </a:lnSpc>
              <a:buFont typeface="Arial" panose="020B0604020202020204" pitchFamily="34" charset="0"/>
              <a:buChar char="•"/>
            </a:pPr>
            <a:r>
              <a:rPr lang="en-US"/>
              <a:t>Tích chập kênh G: (5×0) + (6×1) + ... = 48</a:t>
            </a:r>
          </a:p>
          <a:p>
            <a:pPr>
              <a:lnSpc>
                <a:spcPct val="150000"/>
              </a:lnSpc>
              <a:buFont typeface="Arial" panose="020B0604020202020204" pitchFamily="34" charset="0"/>
              <a:buChar char="•"/>
            </a:pPr>
            <a:r>
              <a:rPr lang="en-US"/>
              <a:t>Tích chập kênh B: (9×1) + (8×0) + ... = 31</a:t>
            </a:r>
          </a:p>
          <a:p>
            <a:pPr>
              <a:lnSpc>
                <a:spcPct val="150000"/>
              </a:lnSpc>
              <a:buFont typeface="Arial" panose="020B0604020202020204" pitchFamily="34" charset="0"/>
              <a:buChar char="•"/>
            </a:pPr>
            <a:r>
              <a:rPr lang="en-US"/>
              <a:t>Tổng: 35 + 48 + 31 = 114</a:t>
            </a:r>
          </a:p>
        </p:txBody>
      </p:sp>
    </p:spTree>
    <p:extLst>
      <p:ext uri="{BB962C8B-B14F-4D97-AF65-F5344CB8AC3E}">
        <p14:creationId xmlns:p14="http://schemas.microsoft.com/office/powerpoint/2010/main" val="2880406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49E33-B18B-8BF3-6550-FA03DE18875F}"/>
              </a:ext>
            </a:extLst>
          </p:cNvPr>
          <p:cNvSpPr>
            <a:spLocks noGrp="1"/>
          </p:cNvSpPr>
          <p:nvPr>
            <p:ph type="title"/>
          </p:nvPr>
        </p:nvSpPr>
        <p:spPr/>
        <p:txBody>
          <a:bodyPr/>
          <a:lstStyle/>
          <a:p>
            <a:pPr algn="ctr"/>
            <a:r>
              <a:rPr lang="en-US"/>
              <a:t>2.3. Phép tính chập với nhiều bộ lọc</a:t>
            </a:r>
          </a:p>
        </p:txBody>
      </p:sp>
      <p:sp>
        <p:nvSpPr>
          <p:cNvPr id="3" name="Content Placeholder 2">
            <a:extLst>
              <a:ext uri="{FF2B5EF4-FFF2-40B4-BE49-F238E27FC236}">
                <a16:creationId xmlns:a16="http://schemas.microsoft.com/office/drawing/2014/main" id="{BC4811EB-13D0-85BF-4878-F213868DC51D}"/>
              </a:ext>
            </a:extLst>
          </p:cNvPr>
          <p:cNvSpPr>
            <a:spLocks noGrp="1"/>
          </p:cNvSpPr>
          <p:nvPr>
            <p:ph idx="1"/>
          </p:nvPr>
        </p:nvSpPr>
        <p:spPr/>
        <p:txBody>
          <a:bodyPr>
            <a:normAutofit fontScale="92500" lnSpcReduction="10000"/>
          </a:bodyPr>
          <a:lstStyle/>
          <a:p>
            <a:pPr algn="just">
              <a:lnSpc>
                <a:spcPct val="150000"/>
              </a:lnSpc>
            </a:pPr>
            <a:r>
              <a:rPr lang="vi-VN"/>
              <a:t>Trong CNN thực tế, một lớp tích chập thường sử dụng nhiều bộ lọc khác nhau để trích xuất nhiều loại đặc trưng khác nhau từ dữ liệu đầu vào.</a:t>
            </a:r>
            <a:endParaRPr lang="en-US"/>
          </a:p>
          <a:p>
            <a:pPr>
              <a:buNone/>
            </a:pPr>
            <a:r>
              <a:rPr lang="vi-VN" b="1"/>
              <a:t>Nguyên lý hoạt động:</a:t>
            </a:r>
            <a:endParaRPr lang="vi-VN"/>
          </a:p>
          <a:p>
            <a:pPr>
              <a:buFont typeface="+mj-lt"/>
              <a:buAutoNum type="arabicPeriod"/>
            </a:pPr>
            <a:r>
              <a:rPr lang="vi-VN" b="1"/>
              <a:t>Nhiều bộ lọc, mỗi bộ lọc có cùng kích thước</a:t>
            </a:r>
            <a:r>
              <a:rPr lang="vi-VN"/>
              <a:t>: Mỗi lớp tích chập thường có nhiều bộ lọc (từ vài chục đến hàng trăm).</a:t>
            </a:r>
          </a:p>
          <a:p>
            <a:pPr>
              <a:buFont typeface="+mj-lt"/>
              <a:buAutoNum type="arabicPeriod"/>
            </a:pPr>
            <a:r>
              <a:rPr lang="vi-VN" b="1"/>
              <a:t>Mỗi bộ lọc tạo ra một feature map</a:t>
            </a:r>
            <a:r>
              <a:rPr lang="vi-VN"/>
              <a:t>: Khi áp dụng n bộ lọc, ta sẽ thu được n feature map đầu ra.</a:t>
            </a:r>
          </a:p>
          <a:p>
            <a:pPr>
              <a:buFont typeface="+mj-lt"/>
              <a:buAutoNum type="arabicPeriod"/>
            </a:pPr>
            <a:r>
              <a:rPr lang="vi-VN" b="1"/>
              <a:t>Mỗi bộ lọc phát hiện một loại đặc trưng khác nhau</a:t>
            </a:r>
            <a:r>
              <a:rPr lang="vi-VN"/>
              <a:t>: Ví dụ, một bộ lọc có thể phát hiện cạnh ngang, bộ lọc khác phát hiện cạnh dọc, góc, hoa văn...</a:t>
            </a:r>
          </a:p>
          <a:p>
            <a:pPr algn="just">
              <a:lnSpc>
                <a:spcPct val="150000"/>
              </a:lnSpc>
            </a:pPr>
            <a:endParaRPr lang="en-US"/>
          </a:p>
        </p:txBody>
      </p:sp>
      <p:sp>
        <p:nvSpPr>
          <p:cNvPr id="4" name="Footer Placeholder 3">
            <a:extLst>
              <a:ext uri="{FF2B5EF4-FFF2-40B4-BE49-F238E27FC236}">
                <a16:creationId xmlns:a16="http://schemas.microsoft.com/office/drawing/2014/main" id="{7E8A7038-2903-515B-8ACF-304AFC748122}"/>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578580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7078739-6155-29F2-830A-6D40569F8921}"/>
              </a:ext>
            </a:extLst>
          </p:cNvPr>
          <p:cNvSpPr>
            <a:spLocks noGrp="1"/>
          </p:cNvSpPr>
          <p:nvPr>
            <p:ph type="ftr" sz="quarter" idx="11"/>
          </p:nvPr>
        </p:nvSpPr>
        <p:spPr/>
        <p:txBody>
          <a:bodyPr/>
          <a:lstStyle/>
          <a:p>
            <a:r>
              <a:rPr lang="en-US"/>
              <a:t>ThS. Lê Nhật Tùng</a:t>
            </a:r>
          </a:p>
        </p:txBody>
      </p:sp>
      <p:pic>
        <p:nvPicPr>
          <p:cNvPr id="12290" name="Picture 2" descr="Student Notes: Convolutional Neural Networks (CNN) Introduction – Belajar  Pembelajaran Mesin Indonesia">
            <a:extLst>
              <a:ext uri="{FF2B5EF4-FFF2-40B4-BE49-F238E27FC236}">
                <a16:creationId xmlns:a16="http://schemas.microsoft.com/office/drawing/2014/main" id="{E8A8EB9D-36ED-57D0-FC34-54FE61733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907" y="2019300"/>
            <a:ext cx="8070185" cy="3865563"/>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186F16B5-1C53-4C26-DC32-3081F94E731B}"/>
              </a:ext>
            </a:extLst>
          </p:cNvPr>
          <p:cNvSpPr>
            <a:spLocks noGrp="1"/>
          </p:cNvSpPr>
          <p:nvPr>
            <p:ph type="title"/>
          </p:nvPr>
        </p:nvSpPr>
        <p:spPr>
          <a:xfrm>
            <a:off x="822960" y="286604"/>
            <a:ext cx="7543800" cy="1450757"/>
          </a:xfrm>
        </p:spPr>
        <p:txBody>
          <a:bodyPr/>
          <a:lstStyle/>
          <a:p>
            <a:pPr algn="ctr"/>
            <a:r>
              <a:rPr lang="en-US"/>
              <a:t>2.3. Phép tính chập với nhiều bộ lọc</a:t>
            </a:r>
          </a:p>
        </p:txBody>
      </p:sp>
    </p:spTree>
    <p:extLst>
      <p:ext uri="{BB962C8B-B14F-4D97-AF65-F5344CB8AC3E}">
        <p14:creationId xmlns:p14="http://schemas.microsoft.com/office/powerpoint/2010/main" val="3371710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CA60E9-58CE-F76B-1477-37895293A640}"/>
              </a:ext>
            </a:extLst>
          </p:cNvPr>
          <p:cNvSpPr>
            <a:spLocks noGrp="1"/>
          </p:cNvSpPr>
          <p:nvPr>
            <p:ph idx="1"/>
          </p:nvPr>
        </p:nvSpPr>
        <p:spPr/>
        <p:txBody>
          <a:bodyPr/>
          <a:lstStyle/>
          <a:p>
            <a:pPr>
              <a:buNone/>
            </a:pPr>
            <a:r>
              <a:rPr lang="vi-VN" b="1"/>
              <a:t>Ý nghĩa và lợi ích:</a:t>
            </a:r>
            <a:endParaRPr lang="vi-VN"/>
          </a:p>
          <a:p>
            <a:pPr>
              <a:buFont typeface="+mj-lt"/>
              <a:buAutoNum type="arabicPeriod"/>
            </a:pPr>
            <a:r>
              <a:rPr lang="vi-VN" b="1"/>
              <a:t>Phát hiện nhiều đặc trưng khác nhau</a:t>
            </a:r>
            <a:r>
              <a:rPr lang="vi-VN"/>
              <a:t>: Mỗi bộ lọc chuyên biệt phát hiện một loại mẫu cụ thể trong dữ liệu.</a:t>
            </a:r>
          </a:p>
          <a:p>
            <a:pPr>
              <a:buFont typeface="+mj-lt"/>
              <a:buAutoNum type="arabicPeriod"/>
            </a:pPr>
            <a:r>
              <a:rPr lang="vi-VN" b="1"/>
              <a:t>Tạo ra biểu diễn phong phú</a:t>
            </a:r>
            <a:r>
              <a:rPr lang="vi-VN"/>
              <a:t>: Tập hợp các feature map cung cấp biểu diễn đa chiều về dữ liệu đầu vào.</a:t>
            </a:r>
          </a:p>
          <a:p>
            <a:pPr>
              <a:buFont typeface="+mj-lt"/>
              <a:buAutoNum type="arabicPeriod"/>
            </a:pPr>
            <a:r>
              <a:rPr lang="vi-VN" b="1"/>
              <a:t>Học phân cấp đặc trưng</a:t>
            </a:r>
            <a:r>
              <a:rPr lang="vi-VN"/>
              <a:t>: Các lớp tích chập sâu hơn có thể kết hợp các đặc trưng cơ bản từ các lớp trước để phát hiện các mẫu phức tạp hơn.</a:t>
            </a:r>
          </a:p>
          <a:p>
            <a:pPr>
              <a:buFont typeface="+mj-lt"/>
              <a:buAutoNum type="arabicPeriod"/>
            </a:pPr>
            <a:r>
              <a:rPr lang="vi-VN" b="1"/>
              <a:t>Tạo cơ sở cho việc phân loại</a:t>
            </a:r>
            <a:r>
              <a:rPr lang="vi-VN"/>
              <a:t>: Các feature map cuối cùng chứa thông tin đủ để lớp fully connected có thể thực hiện phân loại chính xác.</a:t>
            </a:r>
          </a:p>
          <a:p>
            <a:endParaRPr lang="en-US"/>
          </a:p>
        </p:txBody>
      </p:sp>
      <p:sp>
        <p:nvSpPr>
          <p:cNvPr id="4" name="Footer Placeholder 3">
            <a:extLst>
              <a:ext uri="{FF2B5EF4-FFF2-40B4-BE49-F238E27FC236}">
                <a16:creationId xmlns:a16="http://schemas.microsoft.com/office/drawing/2014/main" id="{EA59664C-755C-2EBD-D167-59A2F5C3A263}"/>
              </a:ext>
            </a:extLst>
          </p:cNvPr>
          <p:cNvSpPr>
            <a:spLocks noGrp="1"/>
          </p:cNvSpPr>
          <p:nvPr>
            <p:ph type="ftr" sz="quarter" idx="11"/>
          </p:nvPr>
        </p:nvSpPr>
        <p:spPr/>
        <p:txBody>
          <a:bodyPr/>
          <a:lstStyle/>
          <a:p>
            <a:r>
              <a:rPr lang="en-US"/>
              <a:t>ThS. Lê Nhật Tùng</a:t>
            </a:r>
          </a:p>
        </p:txBody>
      </p:sp>
      <p:sp>
        <p:nvSpPr>
          <p:cNvPr id="6" name="Title 1">
            <a:extLst>
              <a:ext uri="{FF2B5EF4-FFF2-40B4-BE49-F238E27FC236}">
                <a16:creationId xmlns:a16="http://schemas.microsoft.com/office/drawing/2014/main" id="{F5A04DF3-0B2C-6234-86DE-0339A262CAEB}"/>
              </a:ext>
            </a:extLst>
          </p:cNvPr>
          <p:cNvSpPr>
            <a:spLocks noGrp="1"/>
          </p:cNvSpPr>
          <p:nvPr>
            <p:ph type="title"/>
          </p:nvPr>
        </p:nvSpPr>
        <p:spPr>
          <a:xfrm>
            <a:off x="822960" y="286604"/>
            <a:ext cx="7543800" cy="1450757"/>
          </a:xfrm>
        </p:spPr>
        <p:txBody>
          <a:bodyPr/>
          <a:lstStyle/>
          <a:p>
            <a:pPr algn="ctr"/>
            <a:r>
              <a:rPr lang="en-US"/>
              <a:t>2.3. Phép tính chập với nhiều bộ lọc</a:t>
            </a:r>
          </a:p>
        </p:txBody>
      </p:sp>
    </p:spTree>
    <p:extLst>
      <p:ext uri="{BB962C8B-B14F-4D97-AF65-F5344CB8AC3E}">
        <p14:creationId xmlns:p14="http://schemas.microsoft.com/office/powerpoint/2010/main" val="2138702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635F3-04DC-B336-D3FF-7C110D0A8D35}"/>
              </a:ext>
            </a:extLst>
          </p:cNvPr>
          <p:cNvSpPr>
            <a:spLocks noGrp="1"/>
          </p:cNvSpPr>
          <p:nvPr>
            <p:ph type="title"/>
          </p:nvPr>
        </p:nvSpPr>
        <p:spPr/>
        <p:txBody>
          <a:bodyPr/>
          <a:lstStyle/>
          <a:p>
            <a:pPr algn="ctr"/>
            <a:r>
              <a:rPr lang="en-US"/>
              <a:t>2.4. Lớp tích chập</a:t>
            </a:r>
          </a:p>
        </p:txBody>
      </p:sp>
      <p:sp>
        <p:nvSpPr>
          <p:cNvPr id="3" name="Content Placeholder 2">
            <a:extLst>
              <a:ext uri="{FF2B5EF4-FFF2-40B4-BE49-F238E27FC236}">
                <a16:creationId xmlns:a16="http://schemas.microsoft.com/office/drawing/2014/main" id="{2B1F5384-6CD4-90BA-0641-F53DB4BB6A3E}"/>
              </a:ext>
            </a:extLst>
          </p:cNvPr>
          <p:cNvSpPr>
            <a:spLocks noGrp="1"/>
          </p:cNvSpPr>
          <p:nvPr>
            <p:ph idx="1"/>
          </p:nvPr>
        </p:nvSpPr>
        <p:spPr/>
        <p:txBody>
          <a:bodyPr>
            <a:normAutofit/>
          </a:bodyPr>
          <a:lstStyle/>
          <a:p>
            <a:pPr algn="just"/>
            <a:r>
              <a:rPr lang="vi-VN" sz="2800"/>
              <a:t>Lớp tích chập là một lớp trong CNN thực hiện các phép toán tích chập giữa dữ liệu đầu vào và các bộ lọc (filter/kernel) để tạo ra các bản đồ đặc trưng (feature map). </a:t>
            </a:r>
            <a:endParaRPr lang="en-US" sz="2800"/>
          </a:p>
          <a:p>
            <a:pPr algn="just"/>
            <a:r>
              <a:rPr lang="vi-VN" sz="2800"/>
              <a:t>Đây là lớp chịu trách nhiệm chính trong việc học và trích xuất các đặc trưng từ dữ liệu.</a:t>
            </a:r>
            <a:endParaRPr lang="en-US" sz="2800"/>
          </a:p>
        </p:txBody>
      </p:sp>
      <p:sp>
        <p:nvSpPr>
          <p:cNvPr id="4" name="Footer Placeholder 3">
            <a:extLst>
              <a:ext uri="{FF2B5EF4-FFF2-40B4-BE49-F238E27FC236}">
                <a16:creationId xmlns:a16="http://schemas.microsoft.com/office/drawing/2014/main" id="{A265B963-9403-FE79-FBD9-82B2F50F5269}"/>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071734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descr="Student Notes: Convolutional Neural Networks (CNN) Introduction – Belajar  Pembelajaran Mesin Indonesia">
            <a:extLst>
              <a:ext uri="{FF2B5EF4-FFF2-40B4-BE49-F238E27FC236}">
                <a16:creationId xmlns:a16="http://schemas.microsoft.com/office/drawing/2014/main" id="{1354E919-2BA9-E8B4-9109-02CCEF131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 y="1371600"/>
            <a:ext cx="8756851" cy="339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715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60C2B-4B73-F769-6ED9-20FF548F4D29}"/>
              </a:ext>
            </a:extLst>
          </p:cNvPr>
          <p:cNvSpPr>
            <a:spLocks noGrp="1"/>
          </p:cNvSpPr>
          <p:nvPr>
            <p:ph type="title"/>
          </p:nvPr>
        </p:nvSpPr>
        <p:spPr/>
        <p:txBody>
          <a:bodyPr/>
          <a:lstStyle/>
          <a:p>
            <a:pPr algn="ctr"/>
            <a:r>
              <a:rPr lang="en-US"/>
              <a:t>2.5. Lớp pooling</a:t>
            </a:r>
          </a:p>
        </p:txBody>
      </p:sp>
      <p:sp>
        <p:nvSpPr>
          <p:cNvPr id="3" name="Content Placeholder 2">
            <a:extLst>
              <a:ext uri="{FF2B5EF4-FFF2-40B4-BE49-F238E27FC236}">
                <a16:creationId xmlns:a16="http://schemas.microsoft.com/office/drawing/2014/main" id="{4C4DEF19-853F-2DF6-8C88-EAC1D22D389B}"/>
              </a:ext>
            </a:extLst>
          </p:cNvPr>
          <p:cNvSpPr>
            <a:spLocks noGrp="1"/>
          </p:cNvSpPr>
          <p:nvPr>
            <p:ph idx="1"/>
          </p:nvPr>
        </p:nvSpPr>
        <p:spPr/>
        <p:txBody>
          <a:bodyPr/>
          <a:lstStyle/>
          <a:p>
            <a:pPr algn="just">
              <a:buNone/>
            </a:pPr>
            <a:r>
              <a:rPr lang="vi-VN" b="1"/>
              <a:t>Lớp Pooling là gì?</a:t>
            </a:r>
          </a:p>
          <a:p>
            <a:pPr algn="just">
              <a:buNone/>
            </a:pPr>
            <a:r>
              <a:rPr lang="vi-VN"/>
              <a:t>Lớp gộp (Pooling) là một lớp trong CNN có nhiệm vụ giảm kích thước (downsampling) các feature map, giúp:</a:t>
            </a:r>
          </a:p>
          <a:p>
            <a:pPr algn="just">
              <a:buFont typeface="Arial" panose="020B0604020202020204" pitchFamily="34" charset="0"/>
              <a:buChar char="•"/>
            </a:pPr>
            <a:r>
              <a:rPr lang="en-US"/>
              <a:t> </a:t>
            </a:r>
            <a:r>
              <a:rPr lang="vi-VN"/>
              <a:t>Giảm số lượng tham số và tính toán trong mạng</a:t>
            </a:r>
          </a:p>
          <a:p>
            <a:pPr algn="just">
              <a:buFont typeface="Arial" panose="020B0604020202020204" pitchFamily="34" charset="0"/>
              <a:buChar char="•"/>
            </a:pPr>
            <a:r>
              <a:rPr lang="en-US"/>
              <a:t> </a:t>
            </a:r>
            <a:r>
              <a:rPr lang="vi-VN"/>
              <a:t>Kiểm soát overfitting</a:t>
            </a:r>
          </a:p>
          <a:p>
            <a:pPr algn="just">
              <a:buFont typeface="Arial" panose="020B0604020202020204" pitchFamily="34" charset="0"/>
              <a:buChar char="•"/>
            </a:pPr>
            <a:r>
              <a:rPr lang="en-US"/>
              <a:t> </a:t>
            </a:r>
            <a:r>
              <a:rPr lang="vi-VN"/>
              <a:t>Tăng tính bất biến với các biến đổi nhỏ trong dữ liệu đầu vào</a:t>
            </a:r>
          </a:p>
          <a:p>
            <a:pPr algn="just"/>
            <a:endParaRPr lang="en-US"/>
          </a:p>
        </p:txBody>
      </p:sp>
      <p:sp>
        <p:nvSpPr>
          <p:cNvPr id="4" name="Footer Placeholder 3">
            <a:extLst>
              <a:ext uri="{FF2B5EF4-FFF2-40B4-BE49-F238E27FC236}">
                <a16:creationId xmlns:a16="http://schemas.microsoft.com/office/drawing/2014/main" id="{23A373E8-BAF4-57A5-BA3E-02FEB9B85685}"/>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514487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B6569-FE4C-2D8E-0D84-6F14162640FD}"/>
              </a:ext>
            </a:extLst>
          </p:cNvPr>
          <p:cNvSpPr>
            <a:spLocks noGrp="1"/>
          </p:cNvSpPr>
          <p:nvPr>
            <p:ph type="title"/>
          </p:nvPr>
        </p:nvSpPr>
        <p:spPr/>
        <p:txBody>
          <a:bodyPr/>
          <a:lstStyle/>
          <a:p>
            <a:r>
              <a:rPr lang="en-US"/>
              <a:t>Max Pooling</a:t>
            </a:r>
          </a:p>
        </p:txBody>
      </p:sp>
      <p:sp>
        <p:nvSpPr>
          <p:cNvPr id="4" name="Footer Placeholder 3">
            <a:extLst>
              <a:ext uri="{FF2B5EF4-FFF2-40B4-BE49-F238E27FC236}">
                <a16:creationId xmlns:a16="http://schemas.microsoft.com/office/drawing/2014/main" id="{63DC8982-1954-F867-4884-A8D20DA3DA30}"/>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16835150-71CE-B5E1-1A72-3DECB34746AD}"/>
              </a:ext>
            </a:extLst>
          </p:cNvPr>
          <p:cNvSpPr>
            <a:spLocks noChangeArrowheads="1"/>
          </p:cNvSpPr>
          <p:nvPr/>
        </p:nvSpPr>
        <p:spPr bwMode="auto">
          <a:xfrm>
            <a:off x="775826" y="1767950"/>
            <a:ext cx="7720473"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Nguyên lý</a:t>
            </a:r>
            <a:r>
              <a:rPr kumimoji="0" lang="en-US" altLang="en-US" sz="1800" b="0" i="0" u="none" strike="noStrike" cap="none" normalizeH="0" baseline="0">
                <a:ln>
                  <a:noFill/>
                </a:ln>
                <a:solidFill>
                  <a:schemeClr val="tx1"/>
                </a:solidFill>
                <a:effectLst/>
                <a:latin typeface="Arial" panose="020B0604020202020204" pitchFamily="34" charset="0"/>
              </a:rPr>
              <a:t>: Chọn giá trị lớn nhất trong một vùng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Cách hoạt động</a:t>
            </a:r>
            <a:r>
              <a:rPr kumimoji="0" lang="en-US" altLang="en-US" sz="1800" b="0" i="0" u="none" strike="noStrike" cap="none" normalizeH="0" baseline="0">
                <a:ln>
                  <a:noFill/>
                </a:ln>
                <a:solidFill>
                  <a:schemeClr val="tx1"/>
                </a:solidFill>
                <a:effectLst/>
                <a:latin typeface="Arial" panose="020B0604020202020204" pitchFamily="34" charset="0"/>
              </a:rPr>
              <a:t>: Chia feature map thành các vùng không chồng lấp, lấy giá trị max trong mỗi vùng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Ví dụ</a:t>
            </a:r>
            <a:r>
              <a:rPr kumimoji="0" lang="en-US" altLang="en-US" sz="1800" b="0" i="0" u="none" strike="noStrike" cap="none" normalizeH="0" baseline="0">
                <a:ln>
                  <a:noFill/>
                </a:ln>
                <a:solidFill>
                  <a:schemeClr val="tx1"/>
                </a:solidFill>
                <a:effectLst/>
                <a:latin typeface="Arial" panose="020B0604020202020204" pitchFamily="34" charset="0"/>
              </a:rPr>
              <a:t> với Max Pooling 2×2, stride=2 </a:t>
            </a:r>
          </a:p>
        </p:txBody>
      </p:sp>
      <p:sp>
        <p:nvSpPr>
          <p:cNvPr id="9" name="TextBox 8">
            <a:extLst>
              <a:ext uri="{FF2B5EF4-FFF2-40B4-BE49-F238E27FC236}">
                <a16:creationId xmlns:a16="http://schemas.microsoft.com/office/drawing/2014/main" id="{DD8486FA-F132-10C8-818B-4AB4AAD6170F}"/>
              </a:ext>
            </a:extLst>
          </p:cNvPr>
          <p:cNvSpPr txBox="1"/>
          <p:nvPr/>
        </p:nvSpPr>
        <p:spPr>
          <a:xfrm>
            <a:off x="6381742" y="3848100"/>
            <a:ext cx="2286000" cy="1477328"/>
          </a:xfrm>
          <a:prstGeom prst="rect">
            <a:avLst/>
          </a:prstGeom>
          <a:noFill/>
        </p:spPr>
        <p:txBody>
          <a:bodyPr wrap="square">
            <a:spAutoFit/>
          </a:bodyPr>
          <a:lstStyle/>
          <a:p>
            <a:r>
              <a:rPr lang="vi-VN" b="1"/>
              <a:t>Ưu điểm</a:t>
            </a:r>
            <a:r>
              <a:rPr lang="vi-VN"/>
              <a:t>: Giữ lại các đặc trưng nổi bật nhất, thường cho kết quả tốt trong nhận dạng hình ảnh</a:t>
            </a:r>
            <a:endParaRPr lang="en-US"/>
          </a:p>
        </p:txBody>
      </p:sp>
      <p:pic>
        <p:nvPicPr>
          <p:cNvPr id="14339" name="Picture 3" descr="Max Pooling Explained | Papers With Code">
            <a:extLst>
              <a:ext uri="{FF2B5EF4-FFF2-40B4-BE49-F238E27FC236}">
                <a16:creationId xmlns:a16="http://schemas.microsoft.com/office/drawing/2014/main" id="{AAF9B476-A601-4005-2805-8E8768B655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 y="3695172"/>
            <a:ext cx="5265419" cy="2197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0656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9C369-195D-1398-6145-D1E65864FBE0}"/>
              </a:ext>
            </a:extLst>
          </p:cNvPr>
          <p:cNvSpPr>
            <a:spLocks noGrp="1"/>
          </p:cNvSpPr>
          <p:nvPr>
            <p:ph type="title"/>
          </p:nvPr>
        </p:nvSpPr>
        <p:spPr/>
        <p:txBody>
          <a:bodyPr/>
          <a:lstStyle/>
          <a:p>
            <a:r>
              <a:rPr lang="en-US"/>
              <a:t>Average Pooling</a:t>
            </a:r>
          </a:p>
        </p:txBody>
      </p:sp>
      <p:sp>
        <p:nvSpPr>
          <p:cNvPr id="4" name="Footer Placeholder 3">
            <a:extLst>
              <a:ext uri="{FF2B5EF4-FFF2-40B4-BE49-F238E27FC236}">
                <a16:creationId xmlns:a16="http://schemas.microsoft.com/office/drawing/2014/main" id="{EDCC9B3D-1503-05CA-9831-E3965EF3C550}"/>
              </a:ext>
            </a:extLst>
          </p:cNvPr>
          <p:cNvSpPr>
            <a:spLocks noGrp="1"/>
          </p:cNvSpPr>
          <p:nvPr>
            <p:ph type="ftr" sz="quarter" idx="11"/>
          </p:nvPr>
        </p:nvSpPr>
        <p:spPr/>
        <p:txBody>
          <a:bodyPr/>
          <a:lstStyle/>
          <a:p>
            <a:r>
              <a:rPr lang="en-US"/>
              <a:t>ThS. Lê Nhật Tùng</a:t>
            </a:r>
          </a:p>
        </p:txBody>
      </p:sp>
      <p:sp>
        <p:nvSpPr>
          <p:cNvPr id="6" name="Rectangle 2">
            <a:extLst>
              <a:ext uri="{FF2B5EF4-FFF2-40B4-BE49-F238E27FC236}">
                <a16:creationId xmlns:a16="http://schemas.microsoft.com/office/drawing/2014/main" id="{898CDCB1-E5A6-F47B-9C6E-4CA83BBB1806}"/>
              </a:ext>
            </a:extLst>
          </p:cNvPr>
          <p:cNvSpPr>
            <a:spLocks noChangeArrowheads="1"/>
          </p:cNvSpPr>
          <p:nvPr/>
        </p:nvSpPr>
        <p:spPr bwMode="auto">
          <a:xfrm>
            <a:off x="723900" y="2438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Nguyên lý</a:t>
            </a:r>
            <a:r>
              <a:rPr kumimoji="0" lang="en-US" altLang="en-US" sz="1800" b="0" i="0" u="none" strike="noStrike" cap="none" normalizeH="0" baseline="0">
                <a:ln>
                  <a:noFill/>
                </a:ln>
                <a:solidFill>
                  <a:schemeClr val="tx1"/>
                </a:solidFill>
                <a:effectLst/>
                <a:latin typeface="Arial" panose="020B0604020202020204" pitchFamily="34" charset="0"/>
              </a:rPr>
              <a:t>: Tính giá trị trung bình trong một vùng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Cách hoạt động</a:t>
            </a:r>
            <a:r>
              <a:rPr kumimoji="0" lang="en-US" altLang="en-US" sz="1800" b="0" i="0" u="none" strike="noStrike" cap="none" normalizeH="0" baseline="0">
                <a:ln>
                  <a:noFill/>
                </a:ln>
                <a:solidFill>
                  <a:schemeClr val="tx1"/>
                </a:solidFill>
                <a:effectLst/>
                <a:latin typeface="Arial" panose="020B0604020202020204" pitchFamily="34" charset="0"/>
              </a:rPr>
              <a:t>: Tương tự Max Pooling nhưng lấy giá trị trung bình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Ví dụ</a:t>
            </a:r>
            <a:r>
              <a:rPr kumimoji="0" lang="en-US" altLang="en-US" sz="1800" b="0" i="0" u="none" strike="noStrike" cap="none" normalizeH="0" baseline="0">
                <a:ln>
                  <a:noFill/>
                </a:ln>
                <a:solidFill>
                  <a:schemeClr val="tx1"/>
                </a:solidFill>
                <a:effectLst/>
                <a:latin typeface="Arial" panose="020B0604020202020204" pitchFamily="34" charset="0"/>
              </a:rPr>
              <a:t> với Average Pooling 2×2, stride=2: </a:t>
            </a:r>
          </a:p>
        </p:txBody>
      </p:sp>
      <p:sp>
        <p:nvSpPr>
          <p:cNvPr id="10" name="TextBox 9">
            <a:extLst>
              <a:ext uri="{FF2B5EF4-FFF2-40B4-BE49-F238E27FC236}">
                <a16:creationId xmlns:a16="http://schemas.microsoft.com/office/drawing/2014/main" id="{48861B3D-425B-1C1C-BB9B-D4E35EFFC2CC}"/>
              </a:ext>
            </a:extLst>
          </p:cNvPr>
          <p:cNvSpPr txBox="1"/>
          <p:nvPr/>
        </p:nvSpPr>
        <p:spPr>
          <a:xfrm>
            <a:off x="6934200" y="3680936"/>
            <a:ext cx="1866900" cy="1477328"/>
          </a:xfrm>
          <a:prstGeom prst="rect">
            <a:avLst/>
          </a:prstGeom>
          <a:noFill/>
        </p:spPr>
        <p:txBody>
          <a:bodyPr wrap="square">
            <a:spAutoFit/>
          </a:bodyPr>
          <a:lstStyle/>
          <a:p>
            <a:r>
              <a:rPr lang="vi-VN" b="1"/>
              <a:t>Ưu điểm</a:t>
            </a:r>
            <a:r>
              <a:rPr lang="vi-VN"/>
              <a:t>: Giữ lại thông tin nền, có ích khi xử lý hình ảnh mịn, ảnh y tế</a:t>
            </a:r>
            <a:endParaRPr lang="en-US"/>
          </a:p>
        </p:txBody>
      </p:sp>
      <p:pic>
        <p:nvPicPr>
          <p:cNvPr id="15364" name="Picture 4" descr="CNN | Introduction to Pooling Layer - GeeksforGeeks">
            <a:extLst>
              <a:ext uri="{FF2B5EF4-FFF2-40B4-BE49-F238E27FC236}">
                <a16:creationId xmlns:a16="http://schemas.microsoft.com/office/drawing/2014/main" id="{8EBEB620-73F3-F32B-F87A-7FE0501C9A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905" y="3281354"/>
            <a:ext cx="6307067" cy="2232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137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2F81F-D1E5-01DC-556A-C5B61B8765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13EFA-4DE1-067A-B33D-1F198FFF0D3B}"/>
              </a:ext>
            </a:extLst>
          </p:cNvPr>
          <p:cNvSpPr>
            <a:spLocks noGrp="1"/>
          </p:cNvSpPr>
          <p:nvPr>
            <p:ph type="title"/>
          </p:nvPr>
        </p:nvSpPr>
        <p:spPr/>
        <p:txBody>
          <a:bodyPr/>
          <a:lstStyle/>
          <a:p>
            <a:pPr algn="ctr"/>
            <a:r>
              <a:rPr lang="en-US"/>
              <a:t>2.6. Lớp kết nối đầy đủ</a:t>
            </a:r>
          </a:p>
        </p:txBody>
      </p:sp>
      <p:sp>
        <p:nvSpPr>
          <p:cNvPr id="4" name="Footer Placeholder 3">
            <a:extLst>
              <a:ext uri="{FF2B5EF4-FFF2-40B4-BE49-F238E27FC236}">
                <a16:creationId xmlns:a16="http://schemas.microsoft.com/office/drawing/2014/main" id="{7AE900D8-4B4B-74DA-9D19-5E689992225B}"/>
              </a:ext>
            </a:extLst>
          </p:cNvPr>
          <p:cNvSpPr>
            <a:spLocks noGrp="1"/>
          </p:cNvSpPr>
          <p:nvPr>
            <p:ph type="ftr" sz="quarter" idx="11"/>
          </p:nvPr>
        </p:nvSpPr>
        <p:spPr/>
        <p:txBody>
          <a:bodyPr/>
          <a:lstStyle/>
          <a:p>
            <a:r>
              <a:rPr lang="en-US"/>
              <a:t>ThS. Lê Nhật Tùng</a:t>
            </a:r>
          </a:p>
        </p:txBody>
      </p:sp>
      <p:sp>
        <p:nvSpPr>
          <p:cNvPr id="7" name="TextBox 6">
            <a:extLst>
              <a:ext uri="{FF2B5EF4-FFF2-40B4-BE49-F238E27FC236}">
                <a16:creationId xmlns:a16="http://schemas.microsoft.com/office/drawing/2014/main" id="{87C8EC46-D8B6-5BCB-4CDF-42E6BB61976F}"/>
              </a:ext>
            </a:extLst>
          </p:cNvPr>
          <p:cNvSpPr txBox="1"/>
          <p:nvPr/>
        </p:nvSpPr>
        <p:spPr>
          <a:xfrm>
            <a:off x="822960" y="1905000"/>
            <a:ext cx="4815840" cy="3787062"/>
          </a:xfrm>
          <a:prstGeom prst="rect">
            <a:avLst/>
          </a:prstGeom>
          <a:noFill/>
        </p:spPr>
        <p:txBody>
          <a:bodyPr wrap="square">
            <a:spAutoFit/>
          </a:bodyPr>
          <a:lstStyle/>
          <a:p>
            <a:pPr algn="just">
              <a:lnSpc>
                <a:spcPct val="150000"/>
              </a:lnSpc>
            </a:pPr>
            <a:r>
              <a:rPr lang="vi-VN"/>
              <a:t>Lớp kết nối đầy đủ (Fully Connected Layer) là một thành phần quan trọng trong kiến trúc mạng nơ-ron tích chập (CNN), thường được đặt ở các tầng cuối của mạng. </a:t>
            </a:r>
            <a:endParaRPr lang="en-US"/>
          </a:p>
          <a:p>
            <a:pPr algn="just">
              <a:lnSpc>
                <a:spcPct val="150000"/>
              </a:lnSpc>
            </a:pPr>
            <a:endParaRPr lang="en-US"/>
          </a:p>
          <a:p>
            <a:pPr algn="just">
              <a:lnSpc>
                <a:spcPct val="150000"/>
              </a:lnSpc>
            </a:pPr>
            <a:r>
              <a:rPr lang="vi-VN"/>
              <a:t>Lớp này kết nối mọi nơ-ron trong tầng hiện tại với mọi nơ-ron trong tầng trước đó, tương tự như trong mạng nơ-ron truyền thống (MLP).</a:t>
            </a:r>
            <a:endParaRPr lang="en-US"/>
          </a:p>
        </p:txBody>
      </p:sp>
      <p:pic>
        <p:nvPicPr>
          <p:cNvPr id="16387" name="Picture 3" descr="Illustration of a fully connected layer.">
            <a:extLst>
              <a:ext uri="{FF2B5EF4-FFF2-40B4-BE49-F238E27FC236}">
                <a16:creationId xmlns:a16="http://schemas.microsoft.com/office/drawing/2014/main" id="{098200BD-91D4-9972-8376-27B58211FB5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22" r="26542"/>
          <a:stretch/>
        </p:blipFill>
        <p:spPr bwMode="auto">
          <a:xfrm>
            <a:off x="5963976" y="2119754"/>
            <a:ext cx="2404789" cy="3957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2793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E1913-93DB-EAF6-5204-7E2E4DEE4FD1}"/>
              </a:ext>
            </a:extLst>
          </p:cNvPr>
          <p:cNvSpPr>
            <a:spLocks noGrp="1"/>
          </p:cNvSpPr>
          <p:nvPr>
            <p:ph type="title"/>
          </p:nvPr>
        </p:nvSpPr>
        <p:spPr/>
        <p:txBody>
          <a:bodyPr/>
          <a:lstStyle/>
          <a:p>
            <a:pPr algn="ctr"/>
            <a:r>
              <a:rPr lang="en-US"/>
              <a:t>2.6. Lớp kết nối đầy đủ</a:t>
            </a:r>
          </a:p>
        </p:txBody>
      </p:sp>
      <p:sp>
        <p:nvSpPr>
          <p:cNvPr id="3" name="Content Placeholder 2">
            <a:extLst>
              <a:ext uri="{FF2B5EF4-FFF2-40B4-BE49-F238E27FC236}">
                <a16:creationId xmlns:a16="http://schemas.microsoft.com/office/drawing/2014/main" id="{EEC79B43-9ADA-44CC-6161-F3D9E21E4A80}"/>
              </a:ext>
            </a:extLst>
          </p:cNvPr>
          <p:cNvSpPr>
            <a:spLocks noGrp="1"/>
          </p:cNvSpPr>
          <p:nvPr>
            <p:ph idx="1"/>
          </p:nvPr>
        </p:nvSpPr>
        <p:spPr/>
        <p:txBody>
          <a:bodyPr/>
          <a:lstStyle/>
          <a:p>
            <a:pPr>
              <a:buNone/>
            </a:pPr>
            <a:r>
              <a:rPr lang="vi-VN"/>
              <a:t>Trong CNN điển hình, cấu trúc thường là:</a:t>
            </a:r>
          </a:p>
          <a:p>
            <a:pPr>
              <a:buFont typeface="+mj-lt"/>
              <a:buAutoNum type="arabicPeriod"/>
            </a:pPr>
            <a:r>
              <a:rPr lang="vi-VN"/>
              <a:t>Nhiều lớp tích chập (Convolutional Layers) + lớp gộp (Pooling Layers) → trích xuất đặc trưng</a:t>
            </a:r>
          </a:p>
          <a:p>
            <a:pPr>
              <a:buFont typeface="+mj-lt"/>
              <a:buAutoNum type="arabicPeriod"/>
            </a:pPr>
            <a:r>
              <a:rPr lang="vi-VN"/>
              <a:t>Lớp làm phẳng (Flatten Layer) → chuyển đổi feature maps thành vector</a:t>
            </a:r>
          </a:p>
          <a:p>
            <a:pPr>
              <a:buFont typeface="+mj-lt"/>
              <a:buAutoNum type="arabicPeriod"/>
            </a:pPr>
            <a:r>
              <a:rPr lang="vi-VN" b="1"/>
              <a:t>Lớp kết nối đầy đủ (Fully Connected Layers)</a:t>
            </a:r>
            <a:r>
              <a:rPr lang="vi-VN"/>
              <a:t> → phân loại/dự đoán</a:t>
            </a:r>
          </a:p>
          <a:p>
            <a:endParaRPr lang="en-US"/>
          </a:p>
        </p:txBody>
      </p:sp>
      <p:sp>
        <p:nvSpPr>
          <p:cNvPr id="4" name="Footer Placeholder 3">
            <a:extLst>
              <a:ext uri="{FF2B5EF4-FFF2-40B4-BE49-F238E27FC236}">
                <a16:creationId xmlns:a16="http://schemas.microsoft.com/office/drawing/2014/main" id="{2767373B-32B0-8DE6-7B8C-F315F7915F92}"/>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1211572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BE6333E-C95F-262E-1273-210529B4C2C7}"/>
              </a:ext>
            </a:extLst>
          </p:cNvPr>
          <p:cNvPicPr>
            <a:picLocks noChangeAspect="1"/>
          </p:cNvPicPr>
          <p:nvPr/>
        </p:nvPicPr>
        <p:blipFill>
          <a:blip r:embed="rId2"/>
          <a:stretch>
            <a:fillRect/>
          </a:stretch>
        </p:blipFill>
        <p:spPr>
          <a:xfrm>
            <a:off x="162232" y="1104900"/>
            <a:ext cx="8819536" cy="3505200"/>
          </a:xfrm>
          <a:prstGeom prst="rect">
            <a:avLst/>
          </a:prstGeom>
        </p:spPr>
      </p:pic>
    </p:spTree>
    <p:extLst>
      <p:ext uri="{BB962C8B-B14F-4D97-AF65-F5344CB8AC3E}">
        <p14:creationId xmlns:p14="http://schemas.microsoft.com/office/powerpoint/2010/main" val="3694875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4A7D2-427D-C654-0C5D-2E0C3CCA1612}"/>
              </a:ext>
            </a:extLst>
          </p:cNvPr>
          <p:cNvSpPr>
            <a:spLocks noGrp="1"/>
          </p:cNvSpPr>
          <p:nvPr>
            <p:ph type="title"/>
          </p:nvPr>
        </p:nvSpPr>
        <p:spPr/>
        <p:txBody>
          <a:bodyPr>
            <a:normAutofit/>
          </a:bodyPr>
          <a:lstStyle/>
          <a:p>
            <a:r>
              <a:rPr lang="en-US" sz="3200" b="1"/>
              <a:t>3. MỘT SỐ KIẾN TRÚC MẠNG CNN NỔI TIẾNG</a:t>
            </a:r>
          </a:p>
        </p:txBody>
      </p:sp>
      <p:sp>
        <p:nvSpPr>
          <p:cNvPr id="3" name="Content Placeholder 2">
            <a:extLst>
              <a:ext uri="{FF2B5EF4-FFF2-40B4-BE49-F238E27FC236}">
                <a16:creationId xmlns:a16="http://schemas.microsoft.com/office/drawing/2014/main" id="{ED6B4A9B-9440-925E-3DCE-AE05DD723BC6}"/>
              </a:ext>
            </a:extLst>
          </p:cNvPr>
          <p:cNvSpPr>
            <a:spLocks noGrp="1"/>
          </p:cNvSpPr>
          <p:nvPr>
            <p:ph idx="1"/>
          </p:nvPr>
        </p:nvSpPr>
        <p:spPr/>
        <p:txBody>
          <a:bodyPr/>
          <a:lstStyle/>
          <a:p>
            <a:pPr algn="just">
              <a:buNone/>
            </a:pPr>
            <a:r>
              <a:rPr lang="vi-VN" sz="6000" b="1">
                <a:highlight>
                  <a:srgbClr val="FFFF00"/>
                </a:highlight>
              </a:rPr>
              <a:t>LeNe</a:t>
            </a:r>
            <a:r>
              <a:rPr lang="en-US" sz="6000" b="1">
                <a:highlight>
                  <a:srgbClr val="FFFF00"/>
                </a:highlight>
              </a:rPr>
              <a:t>t</a:t>
            </a:r>
          </a:p>
          <a:p>
            <a:pPr algn="just">
              <a:buNone/>
            </a:pPr>
            <a:r>
              <a:rPr lang="vi-VN" b="1"/>
              <a:t>Người phát triển</a:t>
            </a:r>
            <a:r>
              <a:rPr lang="vi-VN"/>
              <a:t>: Yann LeCun </a:t>
            </a:r>
            <a:endParaRPr lang="en-US"/>
          </a:p>
          <a:p>
            <a:pPr algn="just">
              <a:buNone/>
            </a:pPr>
            <a:r>
              <a:rPr lang="vi-VN" b="1"/>
              <a:t>Đặc điểm chính</a:t>
            </a:r>
            <a:r>
              <a:rPr lang="vi-VN"/>
              <a:t>:</a:t>
            </a:r>
          </a:p>
          <a:p>
            <a:pPr algn="just">
              <a:buFont typeface="Arial" panose="020B0604020202020204" pitchFamily="34" charset="0"/>
              <a:buChar char="•"/>
            </a:pPr>
            <a:r>
              <a:rPr lang="vi-VN"/>
              <a:t>Kiến trúc CNN đầu tiên, phát triển để nhận dạng chữ số viết tay</a:t>
            </a:r>
          </a:p>
          <a:p>
            <a:pPr algn="just">
              <a:buFont typeface="Arial" panose="020B0604020202020204" pitchFamily="34" charset="0"/>
              <a:buChar char="•"/>
            </a:pPr>
            <a:r>
              <a:rPr lang="vi-VN"/>
              <a:t>7 lớp (không tính đầu vào): 2 lớp tích chập, 2 lớp gộp (subsampling), 3 lớp kết nối đầy đủ</a:t>
            </a:r>
          </a:p>
          <a:p>
            <a:pPr algn="just">
              <a:buFont typeface="Arial" panose="020B0604020202020204" pitchFamily="34" charset="0"/>
              <a:buChar char="•"/>
            </a:pPr>
            <a:r>
              <a:rPr lang="vi-VN"/>
              <a:t>Số tham số: khoảng 60,000</a:t>
            </a:r>
          </a:p>
          <a:p>
            <a:pPr algn="just">
              <a:buFont typeface="Arial" panose="020B0604020202020204" pitchFamily="34" charset="0"/>
              <a:buChar char="•"/>
            </a:pPr>
            <a:r>
              <a:rPr lang="vi-VN"/>
              <a:t>Kích thước đầu vào: 32×32 pixel (ảnh xám)</a:t>
            </a:r>
          </a:p>
          <a:p>
            <a:pPr algn="just"/>
            <a:endParaRPr lang="en-US"/>
          </a:p>
        </p:txBody>
      </p:sp>
      <p:sp>
        <p:nvSpPr>
          <p:cNvPr id="4" name="Footer Placeholder 3">
            <a:extLst>
              <a:ext uri="{FF2B5EF4-FFF2-40B4-BE49-F238E27FC236}">
                <a16:creationId xmlns:a16="http://schemas.microsoft.com/office/drawing/2014/main" id="{1F8D800B-C002-A1BD-055C-FE35A6055F1C}"/>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176991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a:extLst>
              <a:ext uri="{FF2B5EF4-FFF2-40B4-BE49-F238E27FC236}">
                <a16:creationId xmlns:a16="http://schemas.microsoft.com/office/drawing/2014/main" id="{9966FD21-77A8-3A33-9CA8-4067818F49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371600"/>
            <a:ext cx="8522368"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98713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163BA13-26B2-A0A0-D3A5-7F59C14EBABE}"/>
              </a:ext>
            </a:extLst>
          </p:cNvPr>
          <p:cNvPicPr>
            <a:picLocks noChangeAspect="1"/>
          </p:cNvPicPr>
          <p:nvPr/>
        </p:nvPicPr>
        <p:blipFill>
          <a:blip r:embed="rId2"/>
          <a:stretch>
            <a:fillRect/>
          </a:stretch>
        </p:blipFill>
        <p:spPr>
          <a:xfrm>
            <a:off x="342900" y="723016"/>
            <a:ext cx="8153400" cy="5411967"/>
          </a:xfrm>
          <a:prstGeom prst="rect">
            <a:avLst/>
          </a:prstGeom>
        </p:spPr>
      </p:pic>
    </p:spTree>
    <p:extLst>
      <p:ext uri="{BB962C8B-B14F-4D97-AF65-F5344CB8AC3E}">
        <p14:creationId xmlns:p14="http://schemas.microsoft.com/office/powerpoint/2010/main" val="17151684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426A5-707C-C891-B4C1-30387E915CF4}"/>
              </a:ext>
            </a:extLst>
          </p:cNvPr>
          <p:cNvSpPr>
            <a:spLocks noGrp="1"/>
          </p:cNvSpPr>
          <p:nvPr>
            <p:ph type="title"/>
          </p:nvPr>
        </p:nvSpPr>
        <p:spPr/>
        <p:txBody>
          <a:bodyPr>
            <a:normAutofit/>
          </a:bodyPr>
          <a:lstStyle/>
          <a:p>
            <a:r>
              <a:rPr lang="en-US" sz="3200" b="1"/>
              <a:t>3. MỘT SỐ KIẾN TRÚC MẠNG CNN NỔI TIẾNG</a:t>
            </a:r>
            <a:endParaRPr lang="en-US" sz="3200"/>
          </a:p>
        </p:txBody>
      </p:sp>
      <p:sp>
        <p:nvSpPr>
          <p:cNvPr id="3" name="Content Placeholder 2">
            <a:extLst>
              <a:ext uri="{FF2B5EF4-FFF2-40B4-BE49-F238E27FC236}">
                <a16:creationId xmlns:a16="http://schemas.microsoft.com/office/drawing/2014/main" id="{55C59554-CBC6-81F1-9998-12A645B58E0E}"/>
              </a:ext>
            </a:extLst>
          </p:cNvPr>
          <p:cNvSpPr>
            <a:spLocks noGrp="1"/>
          </p:cNvSpPr>
          <p:nvPr>
            <p:ph idx="1"/>
          </p:nvPr>
        </p:nvSpPr>
        <p:spPr/>
        <p:txBody>
          <a:bodyPr/>
          <a:lstStyle/>
          <a:p>
            <a:r>
              <a:rPr lang="en-US" sz="3200" b="1">
                <a:highlight>
                  <a:srgbClr val="FFFF00"/>
                </a:highlight>
              </a:rPr>
              <a:t>AlexNet (2012)</a:t>
            </a:r>
          </a:p>
          <a:p>
            <a:pPr>
              <a:buNone/>
            </a:pPr>
            <a:r>
              <a:rPr lang="vi-VN" b="1"/>
              <a:t>Người phát triển</a:t>
            </a:r>
            <a:r>
              <a:rPr lang="vi-VN"/>
              <a:t>: Alex Krizhevsky, Ilya Sutskever, Geoffrey Hinton </a:t>
            </a:r>
            <a:r>
              <a:rPr lang="vi-VN" b="1"/>
              <a:t>Đặc điểm chính</a:t>
            </a:r>
            <a:r>
              <a:rPr lang="vi-VN"/>
              <a:t>:</a:t>
            </a:r>
          </a:p>
          <a:p>
            <a:pPr>
              <a:buFont typeface="Arial" panose="020B0604020202020204" pitchFamily="34" charset="0"/>
              <a:buChar char="•"/>
            </a:pPr>
            <a:r>
              <a:rPr lang="vi-VN"/>
              <a:t>Giành chiến thắng trong cuộc thi ImageNet 2012, giảm lỗi từ 26% xuống 15.3%</a:t>
            </a:r>
          </a:p>
          <a:p>
            <a:pPr>
              <a:buFont typeface="Arial" panose="020B0604020202020204" pitchFamily="34" charset="0"/>
              <a:buChar char="•"/>
            </a:pPr>
            <a:r>
              <a:rPr lang="vi-VN"/>
              <a:t>Sâu hơn LeNet nhiều, sử dụng GPU để huấn luyện</a:t>
            </a:r>
          </a:p>
          <a:p>
            <a:pPr>
              <a:buFont typeface="Arial" panose="020B0604020202020204" pitchFamily="34" charset="0"/>
              <a:buChar char="•"/>
            </a:pPr>
            <a:r>
              <a:rPr lang="vi-VN"/>
              <a:t>Giới thiệu ReLU, Local Response Normalization, Dropout</a:t>
            </a:r>
          </a:p>
          <a:p>
            <a:pPr>
              <a:buFont typeface="Arial" panose="020B0604020202020204" pitchFamily="34" charset="0"/>
              <a:buChar char="•"/>
            </a:pPr>
            <a:r>
              <a:rPr lang="vi-VN"/>
              <a:t>Số tham số: khoảng 60 triệu</a:t>
            </a:r>
          </a:p>
          <a:p>
            <a:pPr>
              <a:buFont typeface="Arial" panose="020B0604020202020204" pitchFamily="34" charset="0"/>
              <a:buChar char="•"/>
            </a:pPr>
            <a:r>
              <a:rPr lang="vi-VN"/>
              <a:t>Kích thước đầu vào: 227×227×3 (ảnh RGB)</a:t>
            </a:r>
          </a:p>
          <a:p>
            <a:endParaRPr lang="en-US"/>
          </a:p>
        </p:txBody>
      </p:sp>
      <p:sp>
        <p:nvSpPr>
          <p:cNvPr id="4" name="Footer Placeholder 3">
            <a:extLst>
              <a:ext uri="{FF2B5EF4-FFF2-40B4-BE49-F238E27FC236}">
                <a16:creationId xmlns:a16="http://schemas.microsoft.com/office/drawing/2014/main" id="{68107F5D-6E83-6D93-2B1F-0782FF3181A5}"/>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850124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Kiến trúc AlexNet">
            <a:extLst>
              <a:ext uri="{FF2B5EF4-FFF2-40B4-BE49-F238E27FC236}">
                <a16:creationId xmlns:a16="http://schemas.microsoft.com/office/drawing/2014/main" id="{2E1A42C9-C2C3-5E6B-0D68-28B84A7944E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72AD6A13-A6B1-EEA2-AE00-BD0237B6379E}"/>
              </a:ext>
            </a:extLst>
          </p:cNvPr>
          <p:cNvPicPr>
            <a:picLocks noChangeAspect="1"/>
          </p:cNvPicPr>
          <p:nvPr/>
        </p:nvPicPr>
        <p:blipFill>
          <a:blip r:embed="rId2"/>
          <a:stretch>
            <a:fillRect/>
          </a:stretch>
        </p:blipFill>
        <p:spPr>
          <a:xfrm>
            <a:off x="0" y="609600"/>
            <a:ext cx="9144000" cy="5187462"/>
          </a:xfrm>
          <a:prstGeom prst="rect">
            <a:avLst/>
          </a:prstGeom>
        </p:spPr>
      </p:pic>
    </p:spTree>
    <p:extLst>
      <p:ext uri="{BB962C8B-B14F-4D97-AF65-F5344CB8AC3E}">
        <p14:creationId xmlns:p14="http://schemas.microsoft.com/office/powerpoint/2010/main" val="1168321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88EC6-DCE4-9D55-BCEC-90287002F84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517F875-9816-E0E2-B511-3E4708D6D4B5}"/>
              </a:ext>
            </a:extLst>
          </p:cNvPr>
          <p:cNvPicPr>
            <a:picLocks noChangeAspect="1"/>
          </p:cNvPicPr>
          <p:nvPr/>
        </p:nvPicPr>
        <p:blipFill>
          <a:blip r:embed="rId3"/>
          <a:stretch>
            <a:fillRect/>
          </a:stretch>
        </p:blipFill>
        <p:spPr>
          <a:xfrm>
            <a:off x="76200" y="220041"/>
            <a:ext cx="7772400" cy="6579172"/>
          </a:xfrm>
          <a:prstGeom prst="rect">
            <a:avLst/>
          </a:prstGeom>
        </p:spPr>
      </p:pic>
    </p:spTree>
    <p:extLst>
      <p:ext uri="{BB962C8B-B14F-4D97-AF65-F5344CB8AC3E}">
        <p14:creationId xmlns:p14="http://schemas.microsoft.com/office/powerpoint/2010/main" val="36495719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39684-FAC7-9D9F-92C9-5051498932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3FAC2-BBA3-CF05-8A91-FB16A393308E}"/>
              </a:ext>
            </a:extLst>
          </p:cNvPr>
          <p:cNvSpPr>
            <a:spLocks noGrp="1"/>
          </p:cNvSpPr>
          <p:nvPr>
            <p:ph type="title"/>
          </p:nvPr>
        </p:nvSpPr>
        <p:spPr/>
        <p:txBody>
          <a:bodyPr>
            <a:normAutofit/>
          </a:bodyPr>
          <a:lstStyle/>
          <a:p>
            <a:r>
              <a:rPr lang="en-US" sz="3200" b="1"/>
              <a:t>3. MỘT SỐ KIẾN TRÚC MẠNG CNN NỔI TIẾNG</a:t>
            </a:r>
            <a:endParaRPr lang="en-US" sz="3200"/>
          </a:p>
        </p:txBody>
      </p:sp>
      <p:sp>
        <p:nvSpPr>
          <p:cNvPr id="3" name="Content Placeholder 2">
            <a:extLst>
              <a:ext uri="{FF2B5EF4-FFF2-40B4-BE49-F238E27FC236}">
                <a16:creationId xmlns:a16="http://schemas.microsoft.com/office/drawing/2014/main" id="{8D23C394-C34E-C642-BA08-B73F485C1510}"/>
              </a:ext>
            </a:extLst>
          </p:cNvPr>
          <p:cNvSpPr>
            <a:spLocks noGrp="1"/>
          </p:cNvSpPr>
          <p:nvPr>
            <p:ph idx="1"/>
          </p:nvPr>
        </p:nvSpPr>
        <p:spPr/>
        <p:txBody>
          <a:bodyPr/>
          <a:lstStyle/>
          <a:p>
            <a:r>
              <a:rPr lang="en-US" sz="3200" b="1">
                <a:highlight>
                  <a:srgbClr val="FFFF00"/>
                </a:highlight>
              </a:rPr>
              <a:t>VGG-16 (2014)</a:t>
            </a:r>
          </a:p>
          <a:p>
            <a:pPr>
              <a:buNone/>
            </a:pPr>
            <a:r>
              <a:rPr lang="vi-VN" b="1"/>
              <a:t>Người phát triển</a:t>
            </a:r>
            <a:r>
              <a:rPr lang="vi-VN"/>
              <a:t>: Visual Geometry Group (Đại học Oxford) </a:t>
            </a:r>
            <a:endParaRPr lang="en-US"/>
          </a:p>
          <a:p>
            <a:pPr>
              <a:buNone/>
            </a:pPr>
            <a:r>
              <a:rPr lang="vi-VN" b="1"/>
              <a:t>Đặc điểm chính</a:t>
            </a:r>
            <a:r>
              <a:rPr lang="vi-VN"/>
              <a:t>:</a:t>
            </a:r>
          </a:p>
          <a:p>
            <a:pPr>
              <a:buFont typeface="Arial" panose="020B0604020202020204" pitchFamily="34" charset="0"/>
              <a:buChar char="•"/>
            </a:pPr>
            <a:r>
              <a:rPr lang="vi-VN"/>
              <a:t>Kiến trúc đơn giản, sâu, đồng nhất</a:t>
            </a:r>
          </a:p>
          <a:p>
            <a:pPr>
              <a:buFont typeface="Arial" panose="020B0604020202020204" pitchFamily="34" charset="0"/>
              <a:buChar char="•"/>
            </a:pPr>
            <a:r>
              <a:rPr lang="vi-VN"/>
              <a:t>Chỉ sử dụng bộ lọc 3×3, stride 1, padding 1</a:t>
            </a:r>
          </a:p>
          <a:p>
            <a:pPr>
              <a:buFont typeface="Arial" panose="020B0604020202020204" pitchFamily="34" charset="0"/>
              <a:buChar char="•"/>
            </a:pPr>
            <a:r>
              <a:rPr lang="vi-VN"/>
              <a:t>Max pooling 2×2, stride 2</a:t>
            </a:r>
          </a:p>
          <a:p>
            <a:pPr>
              <a:buFont typeface="Arial" panose="020B0604020202020204" pitchFamily="34" charset="0"/>
              <a:buChar char="•"/>
            </a:pPr>
            <a:r>
              <a:rPr lang="vi-VN"/>
              <a:t>Số tham số: khoảng 138 triệu</a:t>
            </a:r>
          </a:p>
          <a:p>
            <a:pPr>
              <a:buFont typeface="Arial" panose="020B0604020202020204" pitchFamily="34" charset="0"/>
              <a:buChar char="•"/>
            </a:pPr>
            <a:r>
              <a:rPr lang="vi-VN"/>
              <a:t>Kích thước đầu vào: 224×224×3</a:t>
            </a:r>
          </a:p>
          <a:p>
            <a:endParaRPr lang="en-US"/>
          </a:p>
        </p:txBody>
      </p:sp>
      <p:sp>
        <p:nvSpPr>
          <p:cNvPr id="4" name="Footer Placeholder 3">
            <a:extLst>
              <a:ext uri="{FF2B5EF4-FFF2-40B4-BE49-F238E27FC236}">
                <a16:creationId xmlns:a16="http://schemas.microsoft.com/office/drawing/2014/main" id="{D6FA9AD4-07E8-4857-5AF0-9E269EB86B2D}"/>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7595175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An overview of VGG16 and NiN models | by Khuyen Le | Medium">
            <a:extLst>
              <a:ext uri="{FF2B5EF4-FFF2-40B4-BE49-F238E27FC236}">
                <a16:creationId xmlns:a16="http://schemas.microsoft.com/office/drawing/2014/main" id="{11E2C916-7875-71F7-DDAC-DDEDD358FA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15938"/>
            <a:ext cx="9144000" cy="5826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92333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5750392-8DA5-2617-38EA-87D415FB1537}"/>
              </a:ext>
            </a:extLst>
          </p:cNvPr>
          <p:cNvPicPr>
            <a:picLocks noChangeAspect="1"/>
          </p:cNvPicPr>
          <p:nvPr/>
        </p:nvPicPr>
        <p:blipFill>
          <a:blip r:embed="rId2"/>
          <a:stretch>
            <a:fillRect/>
          </a:stretch>
        </p:blipFill>
        <p:spPr>
          <a:xfrm>
            <a:off x="190500" y="228600"/>
            <a:ext cx="8349276" cy="5791200"/>
          </a:xfrm>
          <a:prstGeom prst="rect">
            <a:avLst/>
          </a:prstGeom>
        </p:spPr>
      </p:pic>
    </p:spTree>
    <p:extLst>
      <p:ext uri="{BB962C8B-B14F-4D97-AF65-F5344CB8AC3E}">
        <p14:creationId xmlns:p14="http://schemas.microsoft.com/office/powerpoint/2010/main" val="35608089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CF666-4612-D689-F306-2A1CD4DA88E3}"/>
              </a:ext>
            </a:extLst>
          </p:cNvPr>
          <p:cNvSpPr>
            <a:spLocks noGrp="1"/>
          </p:cNvSpPr>
          <p:nvPr>
            <p:ph type="title"/>
          </p:nvPr>
        </p:nvSpPr>
        <p:spPr/>
        <p:txBody>
          <a:bodyPr>
            <a:normAutofit/>
          </a:bodyPr>
          <a:lstStyle/>
          <a:p>
            <a:r>
              <a:rPr lang="en-US" b="1"/>
              <a:t>4. Huấn luyện mạng CNN</a:t>
            </a:r>
            <a:br>
              <a:rPr lang="en-US" b="1"/>
            </a:br>
            <a:r>
              <a:rPr lang="en-US" sz="3600" b="1">
                <a:highlight>
                  <a:srgbClr val="FFFF00"/>
                </a:highlight>
              </a:rPr>
              <a:t>Bước 1, Chuẩn bị dữ liệu</a:t>
            </a:r>
            <a:endParaRPr lang="en-US" b="1">
              <a:highlight>
                <a:srgbClr val="FFFF00"/>
              </a:highlight>
            </a:endParaRPr>
          </a:p>
        </p:txBody>
      </p:sp>
      <p:sp>
        <p:nvSpPr>
          <p:cNvPr id="3" name="Content Placeholder 2">
            <a:extLst>
              <a:ext uri="{FF2B5EF4-FFF2-40B4-BE49-F238E27FC236}">
                <a16:creationId xmlns:a16="http://schemas.microsoft.com/office/drawing/2014/main" id="{CAD76FB4-2E81-E452-CE83-F14A83C9501B}"/>
              </a:ext>
            </a:extLst>
          </p:cNvPr>
          <p:cNvSpPr>
            <a:spLocks noGrp="1"/>
          </p:cNvSpPr>
          <p:nvPr>
            <p:ph idx="1"/>
          </p:nvPr>
        </p:nvSpPr>
        <p:spPr/>
        <p:txBody>
          <a:bodyPr>
            <a:normAutofit/>
          </a:bodyPr>
          <a:lstStyle/>
          <a:p>
            <a:pPr algn="just">
              <a:lnSpc>
                <a:spcPct val="150000"/>
              </a:lnSpc>
            </a:pPr>
            <a:r>
              <a:rPr lang="vi-VN" b="1"/>
              <a:t>Thu thập dữ liệu</a:t>
            </a:r>
            <a:r>
              <a:rPr lang="vi-VN"/>
              <a:t>: Để huấn luyện một CNN, chúng ta cần thu thập một tập </a:t>
            </a:r>
            <a:r>
              <a:rPr lang="vi-VN" b="1" i="1"/>
              <a:t>dữ liệu lớn và đa dạng l</a:t>
            </a:r>
            <a:r>
              <a:rPr lang="vi-VN"/>
              <a:t>iên quan đến nhiệm vụ. Đối với phân loại hình ảnh, điều này có thể bao gồm hàng chục/trăm nghìn hình ảnh có nhãn thuộc nhiều loại khác nhau. Có lượng dữ liệu đủ lớn là điều kiện tiên quyết để xây dựng mô hình CNN sâu có hiệu quả.</a:t>
            </a:r>
            <a:endParaRPr lang="en-US"/>
          </a:p>
        </p:txBody>
      </p:sp>
      <p:sp>
        <p:nvSpPr>
          <p:cNvPr id="4" name="Footer Placeholder 3">
            <a:extLst>
              <a:ext uri="{FF2B5EF4-FFF2-40B4-BE49-F238E27FC236}">
                <a16:creationId xmlns:a16="http://schemas.microsoft.com/office/drawing/2014/main" id="{67D66392-813D-93F8-7B82-EB295C0A3A81}"/>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8539431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18672-D41E-C185-6404-7DD7CF2B04E7}"/>
              </a:ext>
            </a:extLst>
          </p:cNvPr>
          <p:cNvSpPr>
            <a:spLocks noGrp="1"/>
          </p:cNvSpPr>
          <p:nvPr>
            <p:ph type="title"/>
          </p:nvPr>
        </p:nvSpPr>
        <p:spPr/>
        <p:txBody>
          <a:bodyPr/>
          <a:lstStyle/>
          <a:p>
            <a:r>
              <a:rPr lang="en-US" b="1"/>
              <a:t>4. Huấn luyện mạng CNN</a:t>
            </a:r>
            <a:endParaRPr lang="en-US"/>
          </a:p>
        </p:txBody>
      </p:sp>
      <p:sp>
        <p:nvSpPr>
          <p:cNvPr id="3" name="Content Placeholder 2">
            <a:extLst>
              <a:ext uri="{FF2B5EF4-FFF2-40B4-BE49-F238E27FC236}">
                <a16:creationId xmlns:a16="http://schemas.microsoft.com/office/drawing/2014/main" id="{0E8C1F9A-63EA-AA57-E6B5-361F203592AF}"/>
              </a:ext>
            </a:extLst>
          </p:cNvPr>
          <p:cNvSpPr>
            <a:spLocks noGrp="1"/>
          </p:cNvSpPr>
          <p:nvPr>
            <p:ph idx="1"/>
          </p:nvPr>
        </p:nvSpPr>
        <p:spPr/>
        <p:txBody>
          <a:bodyPr>
            <a:normAutofit fontScale="85000" lnSpcReduction="20000"/>
          </a:bodyPr>
          <a:lstStyle/>
          <a:p>
            <a:pPr algn="just">
              <a:lnSpc>
                <a:spcPct val="150000"/>
              </a:lnSpc>
              <a:buFont typeface="Arial" panose="020B0604020202020204" pitchFamily="34" charset="0"/>
              <a:buChar char="•"/>
            </a:pPr>
            <a:r>
              <a:rPr lang="en-US" b="1"/>
              <a:t> </a:t>
            </a:r>
            <a:r>
              <a:rPr lang="vi-VN" b="1"/>
              <a:t>Tiền xử lý dữ liệu</a:t>
            </a:r>
            <a:r>
              <a:rPr lang="vi-VN"/>
              <a:t>: Để huấn luyện CNN một cách hiệu quả, chúng ta cần thực hiện một số bước sau để tiền xử lý dữ liệu. </a:t>
            </a:r>
            <a:endParaRPr lang="en-US"/>
          </a:p>
          <a:p>
            <a:pPr lvl="1" algn="just">
              <a:lnSpc>
                <a:spcPct val="150000"/>
              </a:lnSpc>
              <a:buFont typeface="Arial" panose="020B0604020202020204" pitchFamily="34" charset="0"/>
              <a:buChar char="•"/>
            </a:pPr>
            <a:r>
              <a:rPr lang="vi-VN" b="1"/>
              <a:t>Chuẩn hóa</a:t>
            </a:r>
            <a:r>
              <a:rPr lang="vi-VN"/>
              <a:t>: Chuyển đổi giá trị của các pixel về một phạm vi nhất định, hai khoảng chuẩn hóa phổ biến nhất là [0, 1] hoặc [-1, 1]. Việc chuẩn hóa này sẽ giúp cải thiện sự hội tụ trong quá trình huấn luyện.</a:t>
            </a:r>
            <a:endParaRPr lang="en-US"/>
          </a:p>
          <a:p>
            <a:pPr lvl="1" algn="just">
              <a:lnSpc>
                <a:spcPct val="150000"/>
              </a:lnSpc>
              <a:buFont typeface="Arial" panose="020B0604020202020204" pitchFamily="34" charset="0"/>
              <a:buChar char="•"/>
            </a:pPr>
            <a:r>
              <a:rPr lang="vi-VN" b="1"/>
              <a:t>Tăng cường dữ liệu</a:t>
            </a:r>
            <a:r>
              <a:rPr lang="vi-VN"/>
              <a:t>: Áp dụng các phép biến đổi như xoay, lật, thay đổi kích thước và dịch chuyển để tăng kích thước tập dữ liệu một cách nhân tạo, từ đó giúp mô hình có thể học một cách tổng quát hóa.</a:t>
            </a:r>
            <a:endParaRPr lang="en-US"/>
          </a:p>
          <a:p>
            <a:pPr lvl="1" algn="just">
              <a:lnSpc>
                <a:spcPct val="150000"/>
              </a:lnSpc>
              <a:buFont typeface="Arial" panose="020B0604020202020204" pitchFamily="34" charset="0"/>
              <a:buChar char="•"/>
            </a:pPr>
            <a:r>
              <a:rPr lang="vi-VN" b="1"/>
              <a:t>Chia dữ liệu</a:t>
            </a:r>
            <a:r>
              <a:rPr lang="vi-VN"/>
              <a:t>: Chia tập dữ liệu thành các tập huấn luyện, xác thực và kiểm tra. Tập huấn luyện được dùng để học, tập xác thực để điều chỉnh siêu tham số chẳng hạn như tốc độ học (learning rate), kích thước lô (batch size), và tập kiểm tra để đánh giá hiệu suất cuối cùng.</a:t>
            </a:r>
            <a:endParaRPr lang="en-US"/>
          </a:p>
        </p:txBody>
      </p:sp>
      <p:sp>
        <p:nvSpPr>
          <p:cNvPr id="4" name="Footer Placeholder 3">
            <a:extLst>
              <a:ext uri="{FF2B5EF4-FFF2-40B4-BE49-F238E27FC236}">
                <a16:creationId xmlns:a16="http://schemas.microsoft.com/office/drawing/2014/main" id="{00BE0ADF-B6CE-F7C9-E35A-EC0EFE625954}"/>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2659499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3B73E-640C-EA43-5E3A-7EBCAD16E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91983-DC50-2A03-A417-2964A504F3D3}"/>
              </a:ext>
            </a:extLst>
          </p:cNvPr>
          <p:cNvSpPr>
            <a:spLocks noGrp="1"/>
          </p:cNvSpPr>
          <p:nvPr>
            <p:ph type="title"/>
          </p:nvPr>
        </p:nvSpPr>
        <p:spPr/>
        <p:txBody>
          <a:bodyPr>
            <a:noAutofit/>
          </a:bodyPr>
          <a:lstStyle/>
          <a:p>
            <a:r>
              <a:rPr lang="en-US" sz="4000" b="1"/>
              <a:t>4. Huấn luyện mạng CNN</a:t>
            </a:r>
            <a:br>
              <a:rPr lang="en-US" sz="2800" b="1"/>
            </a:br>
            <a:r>
              <a:rPr lang="en-US" sz="2800" b="1">
                <a:highlight>
                  <a:srgbClr val="FFFF00"/>
                </a:highlight>
              </a:rPr>
              <a:t>Bước 2, Thiết kế kiến trúc mô hình CNN:</a:t>
            </a:r>
          </a:p>
        </p:txBody>
      </p:sp>
      <p:sp>
        <p:nvSpPr>
          <p:cNvPr id="3" name="Content Placeholder 2">
            <a:extLst>
              <a:ext uri="{FF2B5EF4-FFF2-40B4-BE49-F238E27FC236}">
                <a16:creationId xmlns:a16="http://schemas.microsoft.com/office/drawing/2014/main" id="{74F64ABA-12D9-70FC-F1BE-6C20F5AFD3E0}"/>
              </a:ext>
            </a:extLst>
          </p:cNvPr>
          <p:cNvSpPr>
            <a:spLocks noGrp="1"/>
          </p:cNvSpPr>
          <p:nvPr>
            <p:ph idx="1"/>
          </p:nvPr>
        </p:nvSpPr>
        <p:spPr/>
        <p:txBody>
          <a:bodyPr>
            <a:normAutofit fontScale="92500"/>
          </a:bodyPr>
          <a:lstStyle/>
          <a:p>
            <a:pPr marL="0" indent="0" algn="just">
              <a:lnSpc>
                <a:spcPct val="160000"/>
              </a:lnSpc>
              <a:buNone/>
            </a:pPr>
            <a:r>
              <a:rPr lang="vi-VN" sz="1900" b="1"/>
              <a:t>Lựa chọn lớp</a:t>
            </a:r>
            <a:r>
              <a:rPr lang="vi-VN" sz="1900"/>
              <a:t>: </a:t>
            </a:r>
            <a:endParaRPr lang="en-US" sz="1900"/>
          </a:p>
          <a:p>
            <a:pPr lvl="1" algn="just">
              <a:lnSpc>
                <a:spcPct val="160000"/>
              </a:lnSpc>
              <a:buFont typeface="Arial" panose="020B0604020202020204" pitchFamily="34" charset="0"/>
              <a:buChar char="•"/>
            </a:pPr>
            <a:r>
              <a:rPr lang="vi-VN" sz="1100" b="1" i="1"/>
              <a:t>Chọn số lượng và loại lớp</a:t>
            </a:r>
            <a:r>
              <a:rPr lang="vi-VN" sz="1100"/>
              <a:t> (tích chập, pooling, kết nối đầy đủ) dựa trên độ phức tạp của nhiệm vụ và tính chất của dữ liệu.</a:t>
            </a:r>
          </a:p>
          <a:p>
            <a:pPr lvl="1" algn="just">
              <a:lnSpc>
                <a:spcPct val="160000"/>
              </a:lnSpc>
              <a:buFont typeface="Arial" panose="020B0604020202020204" pitchFamily="34" charset="0"/>
              <a:buChar char="•"/>
            </a:pPr>
            <a:r>
              <a:rPr lang="vi-VN" sz="1100"/>
              <a:t>Đối với lớp tích chập, cần xác định kích thước bộ lọc, stride, padding, và số lượng bộ lọc của mỗi lớp. Ngoài ra, cần lựa chọn hàm kích hoạt cho các lớp tích chập. Thông thường, hàm kích hoạt cho lớp tích chập là các hàm ReLU, các biến thể của ReLU, Swish, Mish.</a:t>
            </a:r>
          </a:p>
          <a:p>
            <a:pPr lvl="1" algn="just">
              <a:lnSpc>
                <a:spcPct val="160000"/>
              </a:lnSpc>
              <a:buFont typeface="Arial" panose="020B0604020202020204" pitchFamily="34" charset="0"/>
              <a:buChar char="•"/>
            </a:pPr>
            <a:r>
              <a:rPr lang="vi-VN" sz="1100"/>
              <a:t>Đối với lớp pooling, cần xác định loại pooling mong muốn, có thể là max pooling hoặc average pooling hoặc một phương pháp mới khác.</a:t>
            </a:r>
          </a:p>
          <a:p>
            <a:pPr lvl="1" algn="just">
              <a:lnSpc>
                <a:spcPct val="160000"/>
              </a:lnSpc>
              <a:buFont typeface="Arial" panose="020B0604020202020204" pitchFamily="34" charset="0"/>
              <a:buChar char="•"/>
            </a:pPr>
            <a:r>
              <a:rPr lang="vi-VN" sz="1100"/>
              <a:t>Đối với lớp kết nối đầy đủ, cần xác định số lượng lớp ẩn, số lượng neuron trong mỗi lớp, và hàm kích hoạt. Đối với các lớp ẩn, hàm kích hoạt phổ biến là các hàm ReLU, các biến thể của ReLU, Swish, Mish. Đối với lớp đầu ra, hàm kích hoạt thường dùng là Sigmoid, Tanh.</a:t>
            </a:r>
            <a:endParaRPr lang="en-US" sz="1100"/>
          </a:p>
          <a:p>
            <a:pPr marL="0" indent="0" algn="just">
              <a:lnSpc>
                <a:spcPct val="160000"/>
              </a:lnSpc>
              <a:buNone/>
            </a:pPr>
            <a:r>
              <a:rPr lang="vi-VN" sz="1600" b="1"/>
              <a:t>Điều chỉnh (regularization)</a:t>
            </a:r>
            <a:r>
              <a:rPr lang="vi-VN" sz="1600"/>
              <a:t>: Áp dụng các kỹ thuật như dropout và L2-regularization để ngăn chặn overfitting.</a:t>
            </a:r>
            <a:endParaRPr lang="en-US" sz="1600"/>
          </a:p>
          <a:p>
            <a:pPr algn="just">
              <a:lnSpc>
                <a:spcPct val="160000"/>
              </a:lnSpc>
              <a:buFont typeface="Arial" panose="020B0604020202020204" pitchFamily="34" charset="0"/>
              <a:buChar char="•"/>
            </a:pPr>
            <a:endParaRPr lang="en-US" sz="1300"/>
          </a:p>
        </p:txBody>
      </p:sp>
      <p:sp>
        <p:nvSpPr>
          <p:cNvPr id="4" name="Footer Placeholder 3">
            <a:extLst>
              <a:ext uri="{FF2B5EF4-FFF2-40B4-BE49-F238E27FC236}">
                <a16:creationId xmlns:a16="http://schemas.microsoft.com/office/drawing/2014/main" id="{1BBC5F6F-1AE1-B3DF-BEDF-C83923C17FCE}"/>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894169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16B76-9D4A-0026-DC4A-75D55F689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644B3-30B3-9449-AC8C-D0F10B06F19E}"/>
              </a:ext>
            </a:extLst>
          </p:cNvPr>
          <p:cNvSpPr>
            <a:spLocks noGrp="1"/>
          </p:cNvSpPr>
          <p:nvPr>
            <p:ph type="title"/>
          </p:nvPr>
        </p:nvSpPr>
        <p:spPr/>
        <p:txBody>
          <a:bodyPr>
            <a:noAutofit/>
          </a:bodyPr>
          <a:lstStyle/>
          <a:p>
            <a:r>
              <a:rPr lang="en-US" sz="3600" b="1"/>
              <a:t>4. Huấn luyện mạng CNN</a:t>
            </a:r>
            <a:br>
              <a:rPr lang="en-US" sz="3600" b="1"/>
            </a:br>
            <a:r>
              <a:rPr lang="en-US" sz="3600" b="1">
                <a:highlight>
                  <a:srgbClr val="FFFF00"/>
                </a:highlight>
              </a:rPr>
              <a:t>Bước 3, Xác thực và điều chuyển tham số</a:t>
            </a:r>
            <a:endParaRPr lang="en-US" sz="3600">
              <a:highlight>
                <a:srgbClr val="FFFF00"/>
              </a:highlight>
            </a:endParaRPr>
          </a:p>
        </p:txBody>
      </p:sp>
      <p:sp>
        <p:nvSpPr>
          <p:cNvPr id="4" name="Footer Placeholder 3">
            <a:extLst>
              <a:ext uri="{FF2B5EF4-FFF2-40B4-BE49-F238E27FC236}">
                <a16:creationId xmlns:a16="http://schemas.microsoft.com/office/drawing/2014/main" id="{F044B829-1C59-4E31-3129-540FEA677004}"/>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7C686770-F069-D4CA-1C27-E409C43F010D}"/>
              </a:ext>
            </a:extLst>
          </p:cNvPr>
          <p:cNvSpPr>
            <a:spLocks noGrp="1" noChangeArrowheads="1"/>
          </p:cNvSpPr>
          <p:nvPr>
            <p:ph idx="1"/>
          </p:nvPr>
        </p:nvSpPr>
        <p:spPr bwMode="auto">
          <a:xfrm>
            <a:off x="822959" y="2174902"/>
            <a:ext cx="7406641" cy="3365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Xác thực</a:t>
            </a:r>
            <a:r>
              <a:rPr kumimoji="0" lang="en-US" altLang="en-US" sz="1800" b="0" i="0" u="none" strike="noStrike" cap="none" normalizeH="0" baseline="0">
                <a:ln>
                  <a:noFill/>
                </a:ln>
                <a:solidFill>
                  <a:schemeClr val="tx1"/>
                </a:solidFill>
                <a:effectLst/>
                <a:latin typeface="Arial" panose="020B0604020202020204" pitchFamily="34" charset="0"/>
              </a:rPr>
              <a:t>: Đánh giá mô hình trên tập xác thực (validation set) để theo dõi hiệu suất và phát hiện overfitting. Các chỉ số như độ chính xác, precision, recall, và F1-score thường được sử dụng. </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Điều chỉnh siêu tham số</a:t>
            </a:r>
            <a:r>
              <a:rPr kumimoji="0" lang="en-US" altLang="en-US" sz="1800" b="0" i="0" u="none" strike="noStrike" cap="none" normalizeH="0" baseline="0">
                <a:ln>
                  <a:noFill/>
                </a:ln>
                <a:solidFill>
                  <a:schemeClr val="tx1"/>
                </a:solidFill>
                <a:effectLst/>
                <a:latin typeface="Arial" panose="020B0604020202020204" pitchFamily="34" charset="0"/>
              </a:rPr>
              <a:t>: Điều chỉnh các siêu tham số như tốc độ học, kích thước lô, và kiến trúc mạng dựa trên hiệu suất xác thực. Có thể sử dụng các kỹ thuật như tìm kiếm lưới và tìm kiếm ngẫu nhiên để hỗ trợ việc điều chỉnh các siêu tham số. </a:t>
            </a:r>
          </a:p>
        </p:txBody>
      </p:sp>
    </p:spTree>
    <p:extLst>
      <p:ext uri="{BB962C8B-B14F-4D97-AF65-F5344CB8AC3E}">
        <p14:creationId xmlns:p14="http://schemas.microsoft.com/office/powerpoint/2010/main" val="879769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4D495-C253-2FEC-F767-AD0EE86299D0}"/>
              </a:ext>
            </a:extLst>
          </p:cNvPr>
          <p:cNvSpPr>
            <a:spLocks noGrp="1"/>
          </p:cNvSpPr>
          <p:nvPr>
            <p:ph type="title"/>
          </p:nvPr>
        </p:nvSpPr>
        <p:spPr/>
        <p:txBody>
          <a:bodyPr>
            <a:noAutofit/>
          </a:bodyPr>
          <a:lstStyle/>
          <a:p>
            <a:r>
              <a:rPr lang="en-US" sz="2800" b="1"/>
              <a:t>4. Huấn luyện mạng CNN</a:t>
            </a:r>
            <a:br>
              <a:rPr lang="en-US" sz="2800" b="1"/>
            </a:br>
            <a:r>
              <a:rPr lang="en-US" sz="2800" b="1">
                <a:highlight>
                  <a:srgbClr val="FFFF00"/>
                </a:highlight>
              </a:rPr>
              <a:t>Bước 4, Kiểm tra và đánh giá</a:t>
            </a:r>
            <a:endParaRPr lang="en-US" sz="2800"/>
          </a:p>
        </p:txBody>
      </p:sp>
      <p:sp>
        <p:nvSpPr>
          <p:cNvPr id="4" name="Footer Placeholder 3">
            <a:extLst>
              <a:ext uri="{FF2B5EF4-FFF2-40B4-BE49-F238E27FC236}">
                <a16:creationId xmlns:a16="http://schemas.microsoft.com/office/drawing/2014/main" id="{87BAF073-ECB6-BB56-EEA1-B7E2C9898391}"/>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901C4938-4067-25DD-BD0B-B668188BBC6C}"/>
              </a:ext>
            </a:extLst>
          </p:cNvPr>
          <p:cNvSpPr>
            <a:spLocks noGrp="1" noChangeArrowheads="1"/>
          </p:cNvSpPr>
          <p:nvPr>
            <p:ph idx="1"/>
          </p:nvPr>
        </p:nvSpPr>
        <p:spPr bwMode="auto">
          <a:xfrm>
            <a:off x="883919" y="1943100"/>
            <a:ext cx="748284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Khi mô hình đã được huấn luyện và xác thực, đánh giá hiệu suất của nó trên tập kiểm tra để đánh giá khả năng của mô hình trên dữ liệu mới.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Sử dụng các chỉ số đo lường phù hợp với bài toán. </a:t>
            </a:r>
          </a:p>
        </p:txBody>
      </p:sp>
    </p:spTree>
    <p:extLst>
      <p:ext uri="{BB962C8B-B14F-4D97-AF65-F5344CB8AC3E}">
        <p14:creationId xmlns:p14="http://schemas.microsoft.com/office/powerpoint/2010/main" val="24191336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CB169-3D46-1DCF-EF89-08F1E825A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9FB2F-0D7D-BA9F-6DC8-ADED9D67FB55}"/>
              </a:ext>
            </a:extLst>
          </p:cNvPr>
          <p:cNvSpPr>
            <a:spLocks noGrp="1"/>
          </p:cNvSpPr>
          <p:nvPr>
            <p:ph type="title"/>
          </p:nvPr>
        </p:nvSpPr>
        <p:spPr/>
        <p:txBody>
          <a:bodyPr>
            <a:noAutofit/>
          </a:bodyPr>
          <a:lstStyle/>
          <a:p>
            <a:r>
              <a:rPr lang="en-US" sz="2800" b="1"/>
              <a:t>4. Huấn luyện mạng CNN</a:t>
            </a:r>
            <a:br>
              <a:rPr lang="en-US" sz="2800" b="1"/>
            </a:br>
            <a:r>
              <a:rPr lang="en-US" sz="2800" b="1">
                <a:highlight>
                  <a:srgbClr val="FFFF00"/>
                </a:highlight>
              </a:rPr>
              <a:t>Bước 5, Triển khai</a:t>
            </a:r>
            <a:endParaRPr lang="en-US" sz="2800"/>
          </a:p>
        </p:txBody>
      </p:sp>
      <p:sp>
        <p:nvSpPr>
          <p:cNvPr id="4" name="Footer Placeholder 3">
            <a:extLst>
              <a:ext uri="{FF2B5EF4-FFF2-40B4-BE49-F238E27FC236}">
                <a16:creationId xmlns:a16="http://schemas.microsoft.com/office/drawing/2014/main" id="{220B6673-1045-2E40-E683-471CD2847194}"/>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D1AF30FA-BBDE-F075-4804-0591E5CD123E}"/>
              </a:ext>
            </a:extLst>
          </p:cNvPr>
          <p:cNvSpPr>
            <a:spLocks noGrp="1" noChangeArrowheads="1"/>
          </p:cNvSpPr>
          <p:nvPr>
            <p:ph idx="1"/>
          </p:nvPr>
        </p:nvSpPr>
        <p:spPr bwMode="auto">
          <a:xfrm>
            <a:off x="883919" y="1781262"/>
            <a:ext cx="7482841" cy="1524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lang="vi-VN" sz="1600"/>
              <a:t>Lưu kiến trúc và các tham số của mô hình đã được huấn luyện để triển khai hoặc sử dụng trong tương lai.</a:t>
            </a:r>
            <a:endParaRPr lang="en-US" sz="1600"/>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a:ln>
                  <a:noFill/>
                </a:ln>
                <a:solidFill>
                  <a:schemeClr val="tx1"/>
                </a:solidFill>
                <a:effectLst/>
                <a:latin typeface="Arial" panose="020B0604020202020204" pitchFamily="34" charset="0"/>
              </a:rPr>
              <a:t>Lựa chọn môi trường và phương pháp để deploy mô hình đã huấn luyện trong thực tế.</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989194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B0F74-ADBA-1C76-BE6D-BBAF79CE21D7}"/>
              </a:ext>
            </a:extLst>
          </p:cNvPr>
          <p:cNvSpPr>
            <a:spLocks noGrp="1"/>
          </p:cNvSpPr>
          <p:nvPr>
            <p:ph type="title"/>
          </p:nvPr>
        </p:nvSpPr>
        <p:spPr/>
        <p:txBody>
          <a:bodyPr>
            <a:normAutofit/>
          </a:bodyPr>
          <a:lstStyle/>
          <a:p>
            <a:r>
              <a:rPr lang="en-US" sz="3200" b="1"/>
              <a:t>5. Ứng dụng CNN vào bài toán phân loại ảnh</a:t>
            </a:r>
          </a:p>
        </p:txBody>
      </p:sp>
      <p:sp>
        <p:nvSpPr>
          <p:cNvPr id="3" name="Content Placeholder 2">
            <a:extLst>
              <a:ext uri="{FF2B5EF4-FFF2-40B4-BE49-F238E27FC236}">
                <a16:creationId xmlns:a16="http://schemas.microsoft.com/office/drawing/2014/main" id="{6F289533-58F7-556A-365C-1570D8A191F9}"/>
              </a:ext>
            </a:extLst>
          </p:cNvPr>
          <p:cNvSpPr>
            <a:spLocks noGrp="1"/>
          </p:cNvSpPr>
          <p:nvPr>
            <p:ph idx="1"/>
          </p:nvPr>
        </p:nvSpPr>
        <p:spPr/>
        <p:txBody>
          <a:bodyPr>
            <a:normAutofit/>
          </a:bodyPr>
          <a:lstStyle/>
          <a:p>
            <a:pPr algn="just">
              <a:lnSpc>
                <a:spcPct val="150000"/>
              </a:lnSpc>
            </a:pPr>
            <a:r>
              <a:rPr lang="vi-VN" b="1"/>
              <a:t>Phân loại hình ảnh</a:t>
            </a:r>
            <a:r>
              <a:rPr lang="vi-VN"/>
              <a:t> là một nhiệm vụ cơ bản trong lĩnh vực thị giác máy tính, liên quan đến việc gán một nhãn cụ thể cho một hình ảnh từ một tập hợp các danh mục được xác định trước. </a:t>
            </a:r>
            <a:endParaRPr lang="en-US"/>
          </a:p>
          <a:p>
            <a:pPr algn="just">
              <a:lnSpc>
                <a:spcPct val="150000"/>
              </a:lnSpc>
            </a:pPr>
            <a:r>
              <a:rPr lang="vi-VN"/>
              <a:t>Quá trình này cho phép máy móc diễn giải và phân loại dữ liệu hình ảnh, giống như cách con người nhận biết và phân loại các đối tượng.</a:t>
            </a:r>
          </a:p>
        </p:txBody>
      </p:sp>
      <p:sp>
        <p:nvSpPr>
          <p:cNvPr id="4" name="Footer Placeholder 3">
            <a:extLst>
              <a:ext uri="{FF2B5EF4-FFF2-40B4-BE49-F238E27FC236}">
                <a16:creationId xmlns:a16="http://schemas.microsoft.com/office/drawing/2014/main" id="{0A7586D3-34DB-90B0-41FC-82DCD5887C78}"/>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5162911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5C723-6558-A1F3-1204-B79146CD3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39A30-0C47-70EE-389D-C4EC4D3D0482}"/>
              </a:ext>
            </a:extLst>
          </p:cNvPr>
          <p:cNvSpPr>
            <a:spLocks noGrp="1"/>
          </p:cNvSpPr>
          <p:nvPr>
            <p:ph type="title"/>
          </p:nvPr>
        </p:nvSpPr>
        <p:spPr/>
        <p:txBody>
          <a:bodyPr>
            <a:normAutofit/>
          </a:bodyPr>
          <a:lstStyle/>
          <a:p>
            <a:r>
              <a:rPr lang="en-US" sz="3200" b="1"/>
              <a:t>5. Ứng dụng CNN vào bài toán phân loại ảnh</a:t>
            </a:r>
          </a:p>
        </p:txBody>
      </p:sp>
      <p:sp>
        <p:nvSpPr>
          <p:cNvPr id="3" name="Content Placeholder 2">
            <a:extLst>
              <a:ext uri="{FF2B5EF4-FFF2-40B4-BE49-F238E27FC236}">
                <a16:creationId xmlns:a16="http://schemas.microsoft.com/office/drawing/2014/main" id="{F8098249-8F6C-188F-4D93-AFD6ACDDCA12}"/>
              </a:ext>
            </a:extLst>
          </p:cNvPr>
          <p:cNvSpPr>
            <a:spLocks noGrp="1"/>
          </p:cNvSpPr>
          <p:nvPr>
            <p:ph idx="1"/>
          </p:nvPr>
        </p:nvSpPr>
        <p:spPr/>
        <p:txBody>
          <a:bodyPr>
            <a:normAutofit/>
          </a:bodyPr>
          <a:lstStyle/>
          <a:p>
            <a:pPr algn="just">
              <a:lnSpc>
                <a:spcPct val="150000"/>
              </a:lnSpc>
            </a:pPr>
            <a:r>
              <a:rPr lang="vi-VN"/>
              <a:t>Sự phát triển của các thuật toán phân loại hình ảnh được thúc đẩy bởi những tiến bộ đáng kể trong học máy và học sâu, đặc biệt là thông qua việc sử dụng mạng neuron tích chập (CNNs). Các mô hình CNN được thiết kế để tự động học các đặc trưng từ các hình ảnh đầu vào, do vậy các mô hình CNN đặc biệt hiệu quả cho bài toán phân loại hình ảnh.</a:t>
            </a:r>
          </a:p>
        </p:txBody>
      </p:sp>
      <p:sp>
        <p:nvSpPr>
          <p:cNvPr id="4" name="Footer Placeholder 3">
            <a:extLst>
              <a:ext uri="{FF2B5EF4-FFF2-40B4-BE49-F238E27FC236}">
                <a16:creationId xmlns:a16="http://schemas.microsoft.com/office/drawing/2014/main" id="{557631D3-643C-6C1E-9A26-D5E181DE7F85}"/>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5373124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8193A-5C88-84C7-1C58-906C44718F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A3662-C7DA-2E5B-F42C-6F188959AFDB}"/>
              </a:ext>
            </a:extLst>
          </p:cNvPr>
          <p:cNvSpPr>
            <a:spLocks noGrp="1"/>
          </p:cNvSpPr>
          <p:nvPr>
            <p:ph type="title"/>
          </p:nvPr>
        </p:nvSpPr>
        <p:spPr/>
        <p:txBody>
          <a:bodyPr>
            <a:normAutofit/>
          </a:bodyPr>
          <a:lstStyle/>
          <a:p>
            <a:r>
              <a:rPr lang="en-US" sz="3200" b="1"/>
              <a:t>5. Ứng dụng CNN vào bài toán phân loại ảnh</a:t>
            </a:r>
          </a:p>
        </p:txBody>
      </p:sp>
      <p:sp>
        <p:nvSpPr>
          <p:cNvPr id="3" name="Content Placeholder 2">
            <a:extLst>
              <a:ext uri="{FF2B5EF4-FFF2-40B4-BE49-F238E27FC236}">
                <a16:creationId xmlns:a16="http://schemas.microsoft.com/office/drawing/2014/main" id="{63F9465D-1ED0-25DF-D90D-7A8D407644EB}"/>
              </a:ext>
            </a:extLst>
          </p:cNvPr>
          <p:cNvSpPr>
            <a:spLocks noGrp="1"/>
          </p:cNvSpPr>
          <p:nvPr>
            <p:ph idx="1"/>
          </p:nvPr>
        </p:nvSpPr>
        <p:spPr/>
        <p:txBody>
          <a:bodyPr>
            <a:normAutofit/>
          </a:bodyPr>
          <a:lstStyle/>
          <a:p>
            <a:pPr algn="just">
              <a:lnSpc>
                <a:spcPct val="150000"/>
              </a:lnSpc>
            </a:pPr>
            <a:r>
              <a:rPr lang="vi-VN"/>
              <a:t>Phân loại hình ảnh có rất nhiều ứng dụng thực tiễn, ví dụ như xe tự lái, hệ thống nhận diện sinh trắc học, chẩn đoán y tế, .... Khi công nghệ tiếp tục phát triển, phân loại hình ảnh được dự đoán sẽ trở thành một phần không thể thiếu của nhiều ngành công nghiệp, nâng cao khả năng của máy móc trong việc hiểu và tương tác với thế giới xung quanh chúng.</a:t>
            </a:r>
          </a:p>
        </p:txBody>
      </p:sp>
      <p:sp>
        <p:nvSpPr>
          <p:cNvPr id="4" name="Footer Placeholder 3">
            <a:extLst>
              <a:ext uri="{FF2B5EF4-FFF2-40B4-BE49-F238E27FC236}">
                <a16:creationId xmlns:a16="http://schemas.microsoft.com/office/drawing/2014/main" id="{2B1066FF-CD74-EA8B-FDE2-4F6495A834D2}"/>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7576640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9C7D-2792-7445-65E3-075E5EE45284}"/>
              </a:ext>
            </a:extLst>
          </p:cNvPr>
          <p:cNvSpPr>
            <a:spLocks noGrp="1"/>
          </p:cNvSpPr>
          <p:nvPr>
            <p:ph type="title"/>
          </p:nvPr>
        </p:nvSpPr>
        <p:spPr/>
        <p:txBody>
          <a:bodyPr>
            <a:normAutofit/>
          </a:bodyPr>
          <a:lstStyle/>
          <a:p>
            <a:r>
              <a:rPr lang="en-US" sz="3200" b="1"/>
              <a:t>5. Ứng dụng CNN vào bài toán phân loại ảnh</a:t>
            </a:r>
            <a:endParaRPr lang="en-US" sz="3200"/>
          </a:p>
        </p:txBody>
      </p:sp>
      <p:sp>
        <p:nvSpPr>
          <p:cNvPr id="3" name="Content Placeholder 2">
            <a:extLst>
              <a:ext uri="{FF2B5EF4-FFF2-40B4-BE49-F238E27FC236}">
                <a16:creationId xmlns:a16="http://schemas.microsoft.com/office/drawing/2014/main" id="{FACBC8EC-448B-2565-A625-838ACC96BE07}"/>
              </a:ext>
            </a:extLst>
          </p:cNvPr>
          <p:cNvSpPr>
            <a:spLocks noGrp="1"/>
          </p:cNvSpPr>
          <p:nvPr>
            <p:ph idx="1"/>
          </p:nvPr>
        </p:nvSpPr>
        <p:spPr/>
        <p:txBody>
          <a:bodyPr>
            <a:normAutofit lnSpcReduction="10000"/>
          </a:bodyPr>
          <a:lstStyle/>
          <a:p>
            <a:r>
              <a:rPr lang="vi-VN" b="1" i="1"/>
              <a:t>Một số vấn đề có thể ảnh hưởng đến độ chính xác và hiệu quả của các mô hình phân loại hình ảnh, bao gồm:</a:t>
            </a:r>
            <a:endParaRPr lang="en-US" b="1" i="1"/>
          </a:p>
          <a:p>
            <a:r>
              <a:rPr lang="vi-VN"/>
              <a:t>Sự biến đổi trong hình ảnh: Hình ảnh có thể thay đổi nhiều do sự khác biệt về ánh sáng, góc độ, tỷ lệ và nền. Sự biến đổi này có thể khiến các mô hình khó xác định đối tượng một cách nhất quán trong các điều kiện khác nhau.</a:t>
            </a:r>
            <a:endParaRPr lang="en-US"/>
          </a:p>
          <a:p>
            <a:r>
              <a:rPr lang="vi-VN"/>
              <a:t>Che khuất và lộn xộn: Các đối tượng trong hình ảnh có thể bị che khuất một phần bởi các đối tượng khác (che khuất) hoặc bị bao quanh bởi một nền lộn xộn, điều này có thể gây nhầm lẫn cho mô hình và dẫn đến phân loại sai.</a:t>
            </a:r>
            <a:endParaRPr lang="en-US"/>
          </a:p>
          <a:p>
            <a:r>
              <a:rPr lang="vi-VN"/>
              <a:t>Biến đổi trong cùng một lớp và sự tương đồng giữa các lớp: Có thể có sự khác biệt đáng kể trong một lớp duy nhất (ví dụ, các giống chó khác nhau) và sự tương đồng...</a:t>
            </a:r>
            <a:endParaRPr lang="en-US"/>
          </a:p>
          <a:p>
            <a:endParaRPr lang="en-US"/>
          </a:p>
        </p:txBody>
      </p:sp>
      <p:sp>
        <p:nvSpPr>
          <p:cNvPr id="4" name="Footer Placeholder 3">
            <a:extLst>
              <a:ext uri="{FF2B5EF4-FFF2-40B4-BE49-F238E27FC236}">
                <a16:creationId xmlns:a16="http://schemas.microsoft.com/office/drawing/2014/main" id="{A0858512-8C0B-6F15-A6AE-B447E6EC57E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8492385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6A607-34AD-A813-8EB9-01FD88BD5B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875EB-1FC3-C917-49BC-48042984F8BC}"/>
              </a:ext>
            </a:extLst>
          </p:cNvPr>
          <p:cNvSpPr>
            <a:spLocks noGrp="1"/>
          </p:cNvSpPr>
          <p:nvPr>
            <p:ph type="title"/>
          </p:nvPr>
        </p:nvSpPr>
        <p:spPr/>
        <p:txBody>
          <a:bodyPr>
            <a:normAutofit/>
          </a:bodyPr>
          <a:lstStyle/>
          <a:p>
            <a:r>
              <a:rPr lang="en-US" sz="3200" b="1"/>
              <a:t>5. Ứng dụng CNN vào bài toán phân loại ảnh</a:t>
            </a:r>
            <a:endParaRPr lang="en-US" sz="3200"/>
          </a:p>
        </p:txBody>
      </p:sp>
      <p:sp>
        <p:nvSpPr>
          <p:cNvPr id="3" name="Content Placeholder 2">
            <a:extLst>
              <a:ext uri="{FF2B5EF4-FFF2-40B4-BE49-F238E27FC236}">
                <a16:creationId xmlns:a16="http://schemas.microsoft.com/office/drawing/2014/main" id="{34B718E5-93F1-895C-0B66-A787E6F27D68}"/>
              </a:ext>
            </a:extLst>
          </p:cNvPr>
          <p:cNvSpPr>
            <a:spLocks noGrp="1"/>
          </p:cNvSpPr>
          <p:nvPr>
            <p:ph idx="1"/>
          </p:nvPr>
        </p:nvSpPr>
        <p:spPr>
          <a:xfrm>
            <a:off x="822959" y="1845734"/>
            <a:ext cx="3617103" cy="4023360"/>
          </a:xfrm>
        </p:spPr>
        <p:txBody>
          <a:bodyPr>
            <a:normAutofit/>
          </a:bodyPr>
          <a:lstStyle/>
          <a:p>
            <a:r>
              <a:rPr lang="vi-VN" b="1" i="1">
                <a:highlight>
                  <a:srgbClr val="FFFF00"/>
                </a:highlight>
              </a:rPr>
              <a:t>Một số vấn đề có thể ảnh hưởng đến độ chính xác và hiệu quả của các mô hình phân loại hình ảnh, bao gồm:</a:t>
            </a:r>
            <a:endParaRPr lang="en-US" b="1" i="1">
              <a:highlight>
                <a:srgbClr val="FFFF00"/>
              </a:highlight>
            </a:endParaRPr>
          </a:p>
          <a:p>
            <a:r>
              <a:rPr lang="vi-VN"/>
              <a:t>Sự biến đổi trong hình ảnh: Hình ảnh có thể thay đổi nhiều do sự khác biệt về ánh sáng, góc độ, tỷ lệ và nền. Sự biến đổi này có thể khiến các mô hình khó xác định đối tượng một cách nhất quán trong các điều kiện khác nhau.</a:t>
            </a:r>
            <a:endParaRPr lang="en-US"/>
          </a:p>
        </p:txBody>
      </p:sp>
      <p:sp>
        <p:nvSpPr>
          <p:cNvPr id="4" name="Footer Placeholder 3">
            <a:extLst>
              <a:ext uri="{FF2B5EF4-FFF2-40B4-BE49-F238E27FC236}">
                <a16:creationId xmlns:a16="http://schemas.microsoft.com/office/drawing/2014/main" id="{0A19D994-26E8-F432-B158-B8BF75E0D643}"/>
              </a:ext>
            </a:extLst>
          </p:cNvPr>
          <p:cNvSpPr>
            <a:spLocks noGrp="1"/>
          </p:cNvSpPr>
          <p:nvPr>
            <p:ph type="ftr" sz="quarter" idx="11"/>
          </p:nvPr>
        </p:nvSpPr>
        <p:spPr/>
        <p:txBody>
          <a:bodyPr/>
          <a:lstStyle/>
          <a:p>
            <a:r>
              <a:rPr lang="en-US"/>
              <a:t>ThS. Lê Nhật Tùng</a:t>
            </a:r>
          </a:p>
        </p:txBody>
      </p:sp>
      <p:pic>
        <p:nvPicPr>
          <p:cNvPr id="8" name="Picture 7">
            <a:extLst>
              <a:ext uri="{FF2B5EF4-FFF2-40B4-BE49-F238E27FC236}">
                <a16:creationId xmlns:a16="http://schemas.microsoft.com/office/drawing/2014/main" id="{10EA1179-19EE-CBE7-E9F2-4DD5822113EC}"/>
              </a:ext>
            </a:extLst>
          </p:cNvPr>
          <p:cNvPicPr>
            <a:picLocks noChangeAspect="1"/>
          </p:cNvPicPr>
          <p:nvPr/>
        </p:nvPicPr>
        <p:blipFill>
          <a:blip r:embed="rId2"/>
          <a:stretch>
            <a:fillRect/>
          </a:stretch>
        </p:blipFill>
        <p:spPr>
          <a:xfrm>
            <a:off x="5219700" y="2590800"/>
            <a:ext cx="2726798" cy="1829018"/>
          </a:xfrm>
          <a:prstGeom prst="rect">
            <a:avLst/>
          </a:prstGeom>
        </p:spPr>
      </p:pic>
    </p:spTree>
    <p:extLst>
      <p:ext uri="{BB962C8B-B14F-4D97-AF65-F5344CB8AC3E}">
        <p14:creationId xmlns:p14="http://schemas.microsoft.com/office/powerpoint/2010/main" val="11679145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85B58-BB19-73E3-811B-BA49E298BA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CADF5D-3D2E-92B5-5EA6-4371CD6DDAB4}"/>
              </a:ext>
            </a:extLst>
          </p:cNvPr>
          <p:cNvSpPr>
            <a:spLocks noGrp="1"/>
          </p:cNvSpPr>
          <p:nvPr>
            <p:ph type="title"/>
          </p:nvPr>
        </p:nvSpPr>
        <p:spPr/>
        <p:txBody>
          <a:bodyPr>
            <a:normAutofit/>
          </a:bodyPr>
          <a:lstStyle/>
          <a:p>
            <a:r>
              <a:rPr lang="en-US" sz="3200" b="1"/>
              <a:t>5. Ứng dụng CNN vào bài toán phân loại ảnh</a:t>
            </a:r>
            <a:endParaRPr lang="en-US" sz="3200"/>
          </a:p>
        </p:txBody>
      </p:sp>
      <p:sp>
        <p:nvSpPr>
          <p:cNvPr id="3" name="Content Placeholder 2">
            <a:extLst>
              <a:ext uri="{FF2B5EF4-FFF2-40B4-BE49-F238E27FC236}">
                <a16:creationId xmlns:a16="http://schemas.microsoft.com/office/drawing/2014/main" id="{1384162F-D37B-1DF4-0B70-CCA2B040D65B}"/>
              </a:ext>
            </a:extLst>
          </p:cNvPr>
          <p:cNvSpPr>
            <a:spLocks noGrp="1"/>
          </p:cNvSpPr>
          <p:nvPr>
            <p:ph idx="1"/>
          </p:nvPr>
        </p:nvSpPr>
        <p:spPr>
          <a:xfrm>
            <a:off x="822959" y="1845734"/>
            <a:ext cx="3368041" cy="4023360"/>
          </a:xfrm>
        </p:spPr>
        <p:txBody>
          <a:bodyPr>
            <a:normAutofit/>
          </a:bodyPr>
          <a:lstStyle/>
          <a:p>
            <a:pPr algn="just"/>
            <a:r>
              <a:rPr lang="vi-VN"/>
              <a:t>Che khuất và lộn xộn: </a:t>
            </a:r>
            <a:endParaRPr lang="en-US"/>
          </a:p>
          <a:p>
            <a:pPr algn="just"/>
            <a:r>
              <a:rPr lang="vi-VN"/>
              <a:t>Các đối tượng trong hình ảnh có thể bị che khuất một phần bởi các đối tượng khác (che khuất) hoặc bị bao quanh bởi một nền lộn xộn, điều này có thể gây nhầm lẫn cho mô hình và dẫn đến phân loại sai.</a:t>
            </a:r>
            <a:endParaRPr lang="en-US"/>
          </a:p>
        </p:txBody>
      </p:sp>
      <p:sp>
        <p:nvSpPr>
          <p:cNvPr id="4" name="Footer Placeholder 3">
            <a:extLst>
              <a:ext uri="{FF2B5EF4-FFF2-40B4-BE49-F238E27FC236}">
                <a16:creationId xmlns:a16="http://schemas.microsoft.com/office/drawing/2014/main" id="{8551AB40-B98D-D1AB-F8F1-E56B8CC2D78C}"/>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2A510220-D392-6B0E-49F6-C7B2FF11094E}"/>
              </a:ext>
            </a:extLst>
          </p:cNvPr>
          <p:cNvPicPr>
            <a:picLocks noChangeAspect="1"/>
          </p:cNvPicPr>
          <p:nvPr/>
        </p:nvPicPr>
        <p:blipFill>
          <a:blip r:embed="rId2"/>
          <a:stretch>
            <a:fillRect/>
          </a:stretch>
        </p:blipFill>
        <p:spPr>
          <a:xfrm>
            <a:off x="4495800" y="1919077"/>
            <a:ext cx="4077269" cy="3019846"/>
          </a:xfrm>
          <a:prstGeom prst="rect">
            <a:avLst/>
          </a:prstGeom>
        </p:spPr>
      </p:pic>
    </p:spTree>
    <p:extLst>
      <p:ext uri="{BB962C8B-B14F-4D97-AF65-F5344CB8AC3E}">
        <p14:creationId xmlns:p14="http://schemas.microsoft.com/office/powerpoint/2010/main" val="15172430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5E4CF-EF1E-4B07-3C43-24CDB1E7C4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55438-5D9E-3CC5-8A12-3CC3C5FF3A8E}"/>
              </a:ext>
            </a:extLst>
          </p:cNvPr>
          <p:cNvSpPr>
            <a:spLocks noGrp="1"/>
          </p:cNvSpPr>
          <p:nvPr>
            <p:ph type="title"/>
          </p:nvPr>
        </p:nvSpPr>
        <p:spPr/>
        <p:txBody>
          <a:bodyPr>
            <a:normAutofit/>
          </a:bodyPr>
          <a:lstStyle/>
          <a:p>
            <a:r>
              <a:rPr lang="en-US" sz="3200" b="1"/>
              <a:t>5. Ứng dụng CNN vào bài toán phân loại ảnh</a:t>
            </a:r>
            <a:endParaRPr lang="en-US" sz="3200"/>
          </a:p>
        </p:txBody>
      </p:sp>
      <p:sp>
        <p:nvSpPr>
          <p:cNvPr id="3" name="Content Placeholder 2">
            <a:extLst>
              <a:ext uri="{FF2B5EF4-FFF2-40B4-BE49-F238E27FC236}">
                <a16:creationId xmlns:a16="http://schemas.microsoft.com/office/drawing/2014/main" id="{FA5D8C6A-6B33-F46C-025E-3F7B5D8DCB4A}"/>
              </a:ext>
            </a:extLst>
          </p:cNvPr>
          <p:cNvSpPr>
            <a:spLocks noGrp="1"/>
          </p:cNvSpPr>
          <p:nvPr>
            <p:ph idx="1"/>
          </p:nvPr>
        </p:nvSpPr>
        <p:spPr>
          <a:xfrm>
            <a:off x="822959" y="1845734"/>
            <a:ext cx="3177541" cy="4023360"/>
          </a:xfrm>
        </p:spPr>
        <p:txBody>
          <a:bodyPr>
            <a:normAutofit/>
          </a:bodyPr>
          <a:lstStyle/>
          <a:p>
            <a:r>
              <a:rPr lang="vi-VN"/>
              <a:t>Biến đổi trong cùng một lớp và sự tương đồng giữa các lớp: Có thể có sự khác biệt đáng kể trong một lớp duy nhất (ví dụ, các giống chó khác nhau) và sự tương đồng...</a:t>
            </a:r>
            <a:endParaRPr lang="en-US"/>
          </a:p>
          <a:p>
            <a:endParaRPr lang="en-US"/>
          </a:p>
        </p:txBody>
      </p:sp>
      <p:sp>
        <p:nvSpPr>
          <p:cNvPr id="4" name="Footer Placeholder 3">
            <a:extLst>
              <a:ext uri="{FF2B5EF4-FFF2-40B4-BE49-F238E27FC236}">
                <a16:creationId xmlns:a16="http://schemas.microsoft.com/office/drawing/2014/main" id="{ACF69F65-56A0-0059-3C7A-4D9A3765F872}"/>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B2D09DF5-6F8C-8E93-2FF7-08D0076CDBD7}"/>
              </a:ext>
            </a:extLst>
          </p:cNvPr>
          <p:cNvPicPr>
            <a:picLocks noChangeAspect="1"/>
          </p:cNvPicPr>
          <p:nvPr/>
        </p:nvPicPr>
        <p:blipFill>
          <a:blip r:embed="rId2"/>
          <a:srcRect t="2854"/>
          <a:stretch/>
        </p:blipFill>
        <p:spPr>
          <a:xfrm>
            <a:off x="4267200" y="2057400"/>
            <a:ext cx="3962953" cy="3063240"/>
          </a:xfrm>
          <a:prstGeom prst="rect">
            <a:avLst/>
          </a:prstGeom>
        </p:spPr>
      </p:pic>
    </p:spTree>
    <p:extLst>
      <p:ext uri="{BB962C8B-B14F-4D97-AF65-F5344CB8AC3E}">
        <p14:creationId xmlns:p14="http://schemas.microsoft.com/office/powerpoint/2010/main" val="12626982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1EE0D-7948-B992-44E7-5BD09A523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886D9-94BE-CCC9-B5DC-13D8F69470A1}"/>
              </a:ext>
            </a:extLst>
          </p:cNvPr>
          <p:cNvSpPr>
            <a:spLocks noGrp="1"/>
          </p:cNvSpPr>
          <p:nvPr>
            <p:ph type="title"/>
          </p:nvPr>
        </p:nvSpPr>
        <p:spPr/>
        <p:txBody>
          <a:bodyPr>
            <a:normAutofit/>
          </a:bodyPr>
          <a:lstStyle/>
          <a:p>
            <a:r>
              <a:rPr lang="en-US" sz="3200" b="1"/>
              <a:t>5. Ứng dụng CNN vào bài toán phân loại ảnh</a:t>
            </a:r>
            <a:endParaRPr lang="en-US" sz="3200"/>
          </a:p>
        </p:txBody>
      </p:sp>
      <p:sp>
        <p:nvSpPr>
          <p:cNvPr id="3" name="Content Placeholder 2">
            <a:extLst>
              <a:ext uri="{FF2B5EF4-FFF2-40B4-BE49-F238E27FC236}">
                <a16:creationId xmlns:a16="http://schemas.microsoft.com/office/drawing/2014/main" id="{34771DEE-C44D-1410-FE7F-B8FA357993AF}"/>
              </a:ext>
            </a:extLst>
          </p:cNvPr>
          <p:cNvSpPr>
            <a:spLocks noGrp="1"/>
          </p:cNvSpPr>
          <p:nvPr>
            <p:ph idx="1"/>
          </p:nvPr>
        </p:nvSpPr>
        <p:spPr>
          <a:xfrm>
            <a:off x="822959" y="1845734"/>
            <a:ext cx="3177541" cy="4023360"/>
          </a:xfrm>
        </p:spPr>
        <p:txBody>
          <a:bodyPr>
            <a:normAutofit/>
          </a:bodyPr>
          <a:lstStyle/>
          <a:p>
            <a:r>
              <a:rPr lang="vi-VN"/>
              <a:t>Biến đổi trong cùng một lớp và sự tương đồng giữa các lớp: Có thể có sự khác biệt đáng kể trong một lớp duy nhất (ví dụ, các giống chó khác nhau) và sự tương đồng tương đồng giữa các lớp khác nhau (ví dụ, mèo và chó), điều này gây khó khăn cho các mô hình trong việc phân loại hình ảnh.</a:t>
            </a:r>
          </a:p>
          <a:p>
            <a:endParaRPr lang="vi-VN"/>
          </a:p>
          <a:p>
            <a:endParaRPr lang="en-US"/>
          </a:p>
        </p:txBody>
      </p:sp>
      <p:sp>
        <p:nvSpPr>
          <p:cNvPr id="4" name="Footer Placeholder 3">
            <a:extLst>
              <a:ext uri="{FF2B5EF4-FFF2-40B4-BE49-F238E27FC236}">
                <a16:creationId xmlns:a16="http://schemas.microsoft.com/office/drawing/2014/main" id="{82D494EE-944E-961B-3E60-D20DB01CEEE5}"/>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7EDBEBEC-D4C8-9229-C9AA-F84FE54531B9}"/>
              </a:ext>
            </a:extLst>
          </p:cNvPr>
          <p:cNvPicPr>
            <a:picLocks noChangeAspect="1"/>
          </p:cNvPicPr>
          <p:nvPr/>
        </p:nvPicPr>
        <p:blipFill>
          <a:blip r:embed="rId2"/>
          <a:srcRect t="2854"/>
          <a:stretch/>
        </p:blipFill>
        <p:spPr>
          <a:xfrm>
            <a:off x="4267200" y="2057400"/>
            <a:ext cx="3962953" cy="3063240"/>
          </a:xfrm>
          <a:prstGeom prst="rect">
            <a:avLst/>
          </a:prstGeom>
        </p:spPr>
      </p:pic>
    </p:spTree>
    <p:extLst>
      <p:ext uri="{BB962C8B-B14F-4D97-AF65-F5344CB8AC3E}">
        <p14:creationId xmlns:p14="http://schemas.microsoft.com/office/powerpoint/2010/main" val="8453271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BA26-DC9C-4629-8DFF-7794ED7332E1}"/>
              </a:ext>
            </a:extLst>
          </p:cNvPr>
          <p:cNvSpPr>
            <a:spLocks noGrp="1"/>
          </p:cNvSpPr>
          <p:nvPr>
            <p:ph type="title"/>
          </p:nvPr>
        </p:nvSpPr>
        <p:spPr/>
        <p:txBody>
          <a:bodyPr>
            <a:normAutofit/>
          </a:bodyPr>
          <a:lstStyle/>
          <a:p>
            <a:r>
              <a:rPr lang="en-US" sz="3200" b="1"/>
              <a:t>5. Ứng dụng CNN vào bài toán phân loại ảnh</a:t>
            </a:r>
            <a:endParaRPr lang="en-US" sz="3200"/>
          </a:p>
        </p:txBody>
      </p:sp>
      <p:sp>
        <p:nvSpPr>
          <p:cNvPr id="4" name="Footer Placeholder 3">
            <a:extLst>
              <a:ext uri="{FF2B5EF4-FFF2-40B4-BE49-F238E27FC236}">
                <a16:creationId xmlns:a16="http://schemas.microsoft.com/office/drawing/2014/main" id="{2EF76CC8-6302-5042-2BF8-B16CB1AA8DCE}"/>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23903C89-D2AC-8C25-10FF-0ED5C6217E0D}"/>
              </a:ext>
            </a:extLst>
          </p:cNvPr>
          <p:cNvSpPr>
            <a:spLocks noGrp="1" noChangeArrowheads="1"/>
          </p:cNvSpPr>
          <p:nvPr>
            <p:ph idx="1"/>
          </p:nvPr>
        </p:nvSpPr>
        <p:spPr bwMode="auto">
          <a:xfrm>
            <a:off x="817292" y="1743344"/>
            <a:ext cx="75438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Chất lượng và số lượng dữ liệu</a:t>
            </a:r>
            <a:r>
              <a:rPr kumimoji="0" lang="en-US" altLang="en-US" sz="1800" b="0" i="0" u="none" strike="noStrike" cap="none" normalizeH="0" baseline="0">
                <a:ln>
                  <a:noFill/>
                </a:ln>
                <a:solidFill>
                  <a:schemeClr val="tx1"/>
                </a:solidFill>
                <a:effectLst/>
                <a:latin typeface="Arial" panose="020B0604020202020204" pitchFamily="34" charset="0"/>
              </a:rPr>
              <a:t>: Các bộ dữ liệu được chất lượng cao đóng vai trò quan trọng để huấn luyện các mô hình hiệu quả. Tuy nhiên, việc thu thập các bộ dữ liệu lớn, đa dạng và được gán nhãn chính xác rất tốn kém về tài nguyên và thời gian.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Sự mất cân bằng lớp</a:t>
            </a:r>
            <a:r>
              <a:rPr kumimoji="0" lang="en-US" altLang="en-US" sz="1800" b="0" i="0" u="none" strike="noStrike" cap="none" normalizeH="0" baseline="0">
                <a:ln>
                  <a:noFill/>
                </a:ln>
                <a:solidFill>
                  <a:schemeClr val="tx1"/>
                </a:solidFill>
                <a:effectLst/>
                <a:latin typeface="Arial" panose="020B0604020202020204" pitchFamily="34" charset="0"/>
              </a:rPr>
              <a:t>: Trong nhiều bộ dữ liệu, một số lớp có số lượng hình ảnh nhiều, một số lớp lại có quá ít hình ảnh. Sự mất cân bằng này có thể làm cho mô hình thiên vị về phía các lớp phổ biến hơn, dẫn đến hiệu suất kém trên các lớp thiểu số. </a:t>
            </a:r>
          </a:p>
        </p:txBody>
      </p:sp>
    </p:spTree>
    <p:extLst>
      <p:ext uri="{BB962C8B-B14F-4D97-AF65-F5344CB8AC3E}">
        <p14:creationId xmlns:p14="http://schemas.microsoft.com/office/powerpoint/2010/main" val="8740910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015DA-6B01-D9BC-791A-9327CF03F154}"/>
              </a:ext>
            </a:extLst>
          </p:cNvPr>
          <p:cNvSpPr>
            <a:spLocks noGrp="1"/>
          </p:cNvSpPr>
          <p:nvPr>
            <p:ph type="title"/>
          </p:nvPr>
        </p:nvSpPr>
        <p:spPr/>
        <p:txBody>
          <a:bodyPr/>
          <a:lstStyle/>
          <a:p>
            <a:r>
              <a:rPr lang="en-US"/>
              <a:t>Thực hành</a:t>
            </a:r>
          </a:p>
        </p:txBody>
      </p:sp>
      <p:sp>
        <p:nvSpPr>
          <p:cNvPr id="3" name="Content Placeholder 2">
            <a:extLst>
              <a:ext uri="{FF2B5EF4-FFF2-40B4-BE49-F238E27FC236}">
                <a16:creationId xmlns:a16="http://schemas.microsoft.com/office/drawing/2014/main" id="{90FFA3F0-17B6-92A3-4343-5790BBE2B5C3}"/>
              </a:ext>
            </a:extLst>
          </p:cNvPr>
          <p:cNvSpPr>
            <a:spLocks noGrp="1"/>
          </p:cNvSpPr>
          <p:nvPr>
            <p:ph idx="1"/>
          </p:nvPr>
        </p:nvSpPr>
        <p:spPr/>
        <p:txBody>
          <a:bodyPr/>
          <a:lstStyle/>
          <a:p>
            <a:pPr>
              <a:buNone/>
            </a:pPr>
            <a:r>
              <a:rPr lang="vi-VN" b="1"/>
              <a:t>Thu thập và tiền xử lý dữ liệu:</a:t>
            </a:r>
          </a:p>
          <a:p>
            <a:pPr>
              <a:buFont typeface="Arial" panose="020B0604020202020204" pitchFamily="34" charset="0"/>
              <a:buChar char="•"/>
            </a:pPr>
            <a:r>
              <a:rPr lang="vi-VN"/>
              <a:t>Giống như bài tập trước, trong bài tập này chúng ta vẫn sử dụng bộ dữ liệu MNIST. Bộ dữ liệu này có thể dễ dàng tải xuống bằng cách sử dụng TensorFlow.</a:t>
            </a:r>
          </a:p>
          <a:p>
            <a:pPr>
              <a:buFont typeface="Arial" panose="020B0604020202020204" pitchFamily="34" charset="0"/>
              <a:buChar char="•"/>
            </a:pPr>
            <a:r>
              <a:rPr lang="vi-VN"/>
              <a:t>Dữ liệu cần được chuẩn hóa giống như các ví dụ trước.</a:t>
            </a:r>
          </a:p>
          <a:p>
            <a:endParaRPr lang="en-US"/>
          </a:p>
        </p:txBody>
      </p:sp>
      <p:sp>
        <p:nvSpPr>
          <p:cNvPr id="4" name="Footer Placeholder 3">
            <a:extLst>
              <a:ext uri="{FF2B5EF4-FFF2-40B4-BE49-F238E27FC236}">
                <a16:creationId xmlns:a16="http://schemas.microsoft.com/office/drawing/2014/main" id="{3AEDD5BC-5548-B7D7-BCD0-1442DC48BA22}"/>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3680868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F18DB9D-1810-8924-530C-3A59AA00378D}"/>
              </a:ext>
            </a:extLst>
          </p:cNvPr>
          <p:cNvSpPr txBox="1"/>
          <p:nvPr/>
        </p:nvSpPr>
        <p:spPr>
          <a:xfrm>
            <a:off x="784859" y="1828800"/>
            <a:ext cx="8359141" cy="3970318"/>
          </a:xfrm>
          <a:prstGeom prst="rect">
            <a:avLst/>
          </a:prstGeom>
          <a:noFill/>
        </p:spPr>
        <p:txBody>
          <a:bodyPr wrap="square">
            <a:spAutoFit/>
          </a:bodyPr>
          <a:lstStyle/>
          <a:p>
            <a:r>
              <a:rPr lang="en-US"/>
              <a:t>import tensorflow as tf</a:t>
            </a:r>
          </a:p>
          <a:p>
            <a:r>
              <a:rPr lang="en-US"/>
              <a:t>from tensorflow.keras.datasets import mnist</a:t>
            </a:r>
          </a:p>
          <a:p>
            <a:r>
              <a:rPr lang="en-US"/>
              <a:t>from tensorflow.keras.models import Sequential</a:t>
            </a:r>
          </a:p>
          <a:p>
            <a:r>
              <a:rPr lang="en-US"/>
              <a:t>from tensorflow.keras.layers import Conv2D, MaxPooling2D, Flatten, Dense</a:t>
            </a:r>
          </a:p>
          <a:p>
            <a:r>
              <a:rPr lang="en-US"/>
              <a:t>from tensorflow.keras.utils import to_categorical</a:t>
            </a:r>
          </a:p>
          <a:p>
            <a:endParaRPr lang="en-US"/>
          </a:p>
          <a:p>
            <a:r>
              <a:rPr lang="en-US"/>
              <a:t># Load the MNIST dataset</a:t>
            </a:r>
          </a:p>
          <a:p>
            <a:r>
              <a:rPr lang="en-US"/>
              <a:t>(x_train, y_train), (x_test, y_test) = mnist.load_data()</a:t>
            </a:r>
          </a:p>
          <a:p>
            <a:endParaRPr lang="en-US"/>
          </a:p>
          <a:p>
            <a:r>
              <a:rPr lang="en-US"/>
              <a:t># Preprocess the data</a:t>
            </a:r>
          </a:p>
          <a:p>
            <a:r>
              <a:rPr lang="en-US"/>
              <a:t>x_train = x_train.reshape((x_train.shape[0], 28, 28, 1)).astype('float32') / 255</a:t>
            </a:r>
          </a:p>
          <a:p>
            <a:r>
              <a:rPr lang="en-US"/>
              <a:t>x_test = x_test.reshape((x_test.shape[0], 28, 28, 1)).astype('float32') / 255</a:t>
            </a:r>
          </a:p>
          <a:p>
            <a:r>
              <a:rPr lang="en-US"/>
              <a:t>y_train = to_categorical(y_train, 10) # Convert labels to one-hot encoding</a:t>
            </a:r>
          </a:p>
          <a:p>
            <a:r>
              <a:rPr lang="en-US"/>
              <a:t>y_test = to_categorical(y_test, 10)</a:t>
            </a:r>
          </a:p>
        </p:txBody>
      </p:sp>
      <p:sp>
        <p:nvSpPr>
          <p:cNvPr id="7" name="TextBox 6">
            <a:extLst>
              <a:ext uri="{FF2B5EF4-FFF2-40B4-BE49-F238E27FC236}">
                <a16:creationId xmlns:a16="http://schemas.microsoft.com/office/drawing/2014/main" id="{15370C0D-FC50-7579-0D52-8F3D1607F67A}"/>
              </a:ext>
            </a:extLst>
          </p:cNvPr>
          <p:cNvSpPr txBox="1"/>
          <p:nvPr/>
        </p:nvSpPr>
        <p:spPr>
          <a:xfrm>
            <a:off x="777932" y="1333500"/>
            <a:ext cx="4572000" cy="369332"/>
          </a:xfrm>
          <a:prstGeom prst="rect">
            <a:avLst/>
          </a:prstGeom>
          <a:noFill/>
        </p:spPr>
        <p:txBody>
          <a:bodyPr wrap="square">
            <a:spAutoFit/>
          </a:bodyPr>
          <a:lstStyle/>
          <a:p>
            <a:pPr>
              <a:buNone/>
            </a:pPr>
            <a:r>
              <a:rPr lang="vi-VN" b="1"/>
              <a:t>Thu thập và tiền xử lý dữ liệu:</a:t>
            </a:r>
          </a:p>
        </p:txBody>
      </p:sp>
    </p:spTree>
    <p:extLst>
      <p:ext uri="{BB962C8B-B14F-4D97-AF65-F5344CB8AC3E}">
        <p14:creationId xmlns:p14="http://schemas.microsoft.com/office/powerpoint/2010/main" val="21055901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7F170-0BD0-9B51-1C48-6CD08B56B944}"/>
              </a:ext>
            </a:extLst>
          </p:cNvPr>
          <p:cNvSpPr>
            <a:spLocks noGrp="1"/>
          </p:cNvSpPr>
          <p:nvPr>
            <p:ph type="title"/>
          </p:nvPr>
        </p:nvSpPr>
        <p:spPr/>
        <p:txBody>
          <a:bodyPr>
            <a:normAutofit/>
          </a:bodyPr>
          <a:lstStyle/>
          <a:p>
            <a:r>
              <a:rPr lang="en-US" b="1"/>
              <a:t>Thiết kế CNN:</a:t>
            </a:r>
            <a:endParaRPr lang="en-US"/>
          </a:p>
        </p:txBody>
      </p:sp>
      <p:sp>
        <p:nvSpPr>
          <p:cNvPr id="3" name="Content Placeholder 2">
            <a:extLst>
              <a:ext uri="{FF2B5EF4-FFF2-40B4-BE49-F238E27FC236}">
                <a16:creationId xmlns:a16="http://schemas.microsoft.com/office/drawing/2014/main" id="{AC7690A0-10F2-820B-48D2-CCBBE140841C}"/>
              </a:ext>
            </a:extLst>
          </p:cNvPr>
          <p:cNvSpPr>
            <a:spLocks noGrp="1"/>
          </p:cNvSpPr>
          <p:nvPr>
            <p:ph idx="1"/>
          </p:nvPr>
        </p:nvSpPr>
        <p:spPr/>
        <p:txBody>
          <a:bodyPr/>
          <a:lstStyle/>
          <a:p>
            <a:pPr algn="just">
              <a:buFont typeface="Arial" panose="020B0604020202020204" pitchFamily="34" charset="0"/>
              <a:buChar char="•"/>
            </a:pPr>
            <a:r>
              <a:rPr lang="vi-VN"/>
              <a:t>Trong ví dụ này, chúng ta sẽ sử dụng một mạng CNN có kiến trúc đơn giản, bao gồm: </a:t>
            </a:r>
            <a:endParaRPr lang="en-US"/>
          </a:p>
          <a:p>
            <a:pPr algn="just">
              <a:buFont typeface="Arial" panose="020B0604020202020204" pitchFamily="34" charset="0"/>
              <a:buChar char="•"/>
            </a:pPr>
            <a:r>
              <a:rPr lang="vi-VN"/>
              <a:t>Hai lớp tích chập, trong đó: lớp tích chập thứ nhất sử dụng 32 bộ lọc kích thước 3x3, lớp tích chập thứ hai sử dụng 64 bộ lọc kích thước 3x3. Cả hai lớp tích chập đều sử dụng stride = 2, padding = 0, và hàm kích hoạt ReLU.</a:t>
            </a:r>
          </a:p>
          <a:p>
            <a:pPr algn="just">
              <a:buFont typeface="Arial" panose="020B0604020202020204" pitchFamily="34" charset="0"/>
              <a:buChar char="•"/>
            </a:pPr>
            <a:r>
              <a:rPr lang="vi-VN"/>
              <a:t>Theo sau mỗi lớp tích chập là một lớp max pooling.</a:t>
            </a:r>
          </a:p>
          <a:p>
            <a:pPr algn="just">
              <a:buFont typeface="Arial" panose="020B0604020202020204" pitchFamily="34" charset="0"/>
              <a:buChar char="•"/>
            </a:pPr>
            <a:r>
              <a:rPr lang="vi-VN"/>
              <a:t>Hai lớp kết nối đầy đủ, trong đó: lớp kết nối đầy đủ thứ nhất có 128 neuron, và sử dụng hàm kích hoạt ReLU; lớp kết nối đầy đủ thứ hai (lớp đầu ra) có 10 neuron, tương ứng với 10 lớp cần phân loại, và sử dụng hàm kích hoạt Softmax. Đầu ra của CNN chính là xác suất để một hình ảnh thuộc về một trong 10 lớp từ 0 đến 9.</a:t>
            </a:r>
          </a:p>
          <a:p>
            <a:pPr algn="just"/>
            <a:endParaRPr lang="en-US"/>
          </a:p>
        </p:txBody>
      </p:sp>
      <p:sp>
        <p:nvSpPr>
          <p:cNvPr id="4" name="Footer Placeholder 3">
            <a:extLst>
              <a:ext uri="{FF2B5EF4-FFF2-40B4-BE49-F238E27FC236}">
                <a16:creationId xmlns:a16="http://schemas.microsoft.com/office/drawing/2014/main" id="{C4DEFCC5-EF51-CB62-BFF4-07CF2B3A1D6A}"/>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50772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A17A6-801A-6A83-E0E9-CC7152105771}"/>
              </a:ext>
            </a:extLst>
          </p:cNvPr>
          <p:cNvSpPr>
            <a:spLocks noGrp="1"/>
          </p:cNvSpPr>
          <p:nvPr>
            <p:ph type="title"/>
          </p:nvPr>
        </p:nvSpPr>
        <p:spPr/>
        <p:txBody>
          <a:bodyPr/>
          <a:lstStyle/>
          <a:p>
            <a:r>
              <a:rPr lang="en-US" b="1"/>
              <a:t>Thiết kế CNN:</a:t>
            </a:r>
            <a:endParaRPr lang="en-US"/>
          </a:p>
        </p:txBody>
      </p:sp>
      <p:sp>
        <p:nvSpPr>
          <p:cNvPr id="3" name="Content Placeholder 2">
            <a:extLst>
              <a:ext uri="{FF2B5EF4-FFF2-40B4-BE49-F238E27FC236}">
                <a16:creationId xmlns:a16="http://schemas.microsoft.com/office/drawing/2014/main" id="{BC135BFE-0551-3A16-3EFC-61534A54B072}"/>
              </a:ext>
            </a:extLst>
          </p:cNvPr>
          <p:cNvSpPr>
            <a:spLocks noGrp="1"/>
          </p:cNvSpPr>
          <p:nvPr>
            <p:ph idx="1"/>
          </p:nvPr>
        </p:nvSpPr>
        <p:spPr/>
        <p:txBody>
          <a:bodyPr>
            <a:normAutofit lnSpcReduction="10000"/>
          </a:bodyPr>
          <a:lstStyle/>
          <a:p>
            <a:r>
              <a:rPr lang="en-US" sz="1800"/>
              <a:t># Build the CNN model</a:t>
            </a:r>
          </a:p>
          <a:p>
            <a:r>
              <a:rPr lang="en-US" sz="1800"/>
              <a:t>model = Sequential([</a:t>
            </a:r>
          </a:p>
          <a:p>
            <a:r>
              <a:rPr lang="en-US" sz="1800"/>
              <a:t>    Conv2D(32, kernel_size = (3, 3), activation = 'relu', input_shape = (28, 28, 1)),</a:t>
            </a:r>
          </a:p>
          <a:p>
            <a:r>
              <a:rPr lang="en-US" sz="1800"/>
              <a:t>    MaxPooling2D(pool_size = (2, 2)),</a:t>
            </a:r>
          </a:p>
          <a:p>
            <a:r>
              <a:rPr lang="en-US" sz="1800"/>
              <a:t>    Conv2D(64, kernel_size = (3, 3), activation = 'relu'),</a:t>
            </a:r>
          </a:p>
          <a:p>
            <a:r>
              <a:rPr lang="en-US" sz="1800"/>
              <a:t>    MaxPooling2D(pool_size = (2, 2)),</a:t>
            </a:r>
          </a:p>
          <a:p>
            <a:r>
              <a:rPr lang="en-US" sz="1800"/>
              <a:t>    Flatten(),</a:t>
            </a:r>
          </a:p>
          <a:p>
            <a:r>
              <a:rPr lang="en-US" sz="1800"/>
              <a:t>    Dense(128, activation = 'relu'),</a:t>
            </a:r>
          </a:p>
          <a:p>
            <a:r>
              <a:rPr lang="en-US" sz="1800"/>
              <a:t>    Dense(10, activation = 'softmax')</a:t>
            </a:r>
          </a:p>
          <a:p>
            <a:r>
              <a:rPr lang="en-US" sz="1800"/>
              <a:t>])</a:t>
            </a:r>
          </a:p>
        </p:txBody>
      </p:sp>
      <p:sp>
        <p:nvSpPr>
          <p:cNvPr id="4" name="Footer Placeholder 3">
            <a:extLst>
              <a:ext uri="{FF2B5EF4-FFF2-40B4-BE49-F238E27FC236}">
                <a16:creationId xmlns:a16="http://schemas.microsoft.com/office/drawing/2014/main" id="{2D523F20-52DA-E7AF-9402-3A016DE72F1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5024005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95EBF-923D-14DC-050B-FEDB19ABA930}"/>
              </a:ext>
            </a:extLst>
          </p:cNvPr>
          <p:cNvSpPr>
            <a:spLocks noGrp="1"/>
          </p:cNvSpPr>
          <p:nvPr>
            <p:ph type="title"/>
          </p:nvPr>
        </p:nvSpPr>
        <p:spPr/>
        <p:txBody>
          <a:bodyPr/>
          <a:lstStyle/>
          <a:p>
            <a:r>
              <a:rPr lang="en-US" b="1"/>
              <a:t>Huấn luyện CNN:</a:t>
            </a:r>
            <a:endParaRPr lang="en-US"/>
          </a:p>
        </p:txBody>
      </p:sp>
      <p:sp>
        <p:nvSpPr>
          <p:cNvPr id="3" name="Content Placeholder 2">
            <a:extLst>
              <a:ext uri="{FF2B5EF4-FFF2-40B4-BE49-F238E27FC236}">
                <a16:creationId xmlns:a16="http://schemas.microsoft.com/office/drawing/2014/main" id="{099AB31D-EF96-2EA7-E5BE-7BC1B16E1A11}"/>
              </a:ext>
            </a:extLst>
          </p:cNvPr>
          <p:cNvSpPr>
            <a:spLocks noGrp="1"/>
          </p:cNvSpPr>
          <p:nvPr>
            <p:ph idx="1"/>
          </p:nvPr>
        </p:nvSpPr>
        <p:spPr/>
        <p:txBody>
          <a:bodyPr/>
          <a:lstStyle/>
          <a:p>
            <a:pPr>
              <a:buNone/>
            </a:pPr>
            <a:r>
              <a:rPr lang="en-US" b="1"/>
              <a:t>Huấn luyện CNN:</a:t>
            </a:r>
          </a:p>
          <a:p>
            <a:pPr>
              <a:buFont typeface="Arial" panose="020B0604020202020204" pitchFamily="34" charset="0"/>
              <a:buChar char="•"/>
            </a:pPr>
            <a:r>
              <a:rPr lang="en-US"/>
              <a:t>Sử dụng 10% dữ liệu huấn luyện để làm dữ liệu validation.</a:t>
            </a:r>
          </a:p>
          <a:p>
            <a:pPr>
              <a:buFont typeface="Arial" panose="020B0604020202020204" pitchFamily="34" charset="0"/>
              <a:buChar char="•"/>
            </a:pPr>
            <a:r>
              <a:rPr lang="en-US"/>
              <a:t>Đánh giá mô hình sau huấn luyện.</a:t>
            </a:r>
          </a:p>
          <a:p>
            <a:endParaRPr lang="en-US"/>
          </a:p>
        </p:txBody>
      </p:sp>
      <p:sp>
        <p:nvSpPr>
          <p:cNvPr id="4" name="Footer Placeholder 3">
            <a:extLst>
              <a:ext uri="{FF2B5EF4-FFF2-40B4-BE49-F238E27FC236}">
                <a16:creationId xmlns:a16="http://schemas.microsoft.com/office/drawing/2014/main" id="{98521BD0-107C-84C6-B28D-8ADB4A3F66AC}"/>
              </a:ext>
            </a:extLst>
          </p:cNvPr>
          <p:cNvSpPr>
            <a:spLocks noGrp="1"/>
          </p:cNvSpPr>
          <p:nvPr>
            <p:ph type="ftr" sz="quarter" idx="11"/>
          </p:nvPr>
        </p:nvSpPr>
        <p:spPr/>
        <p:txBody>
          <a:bodyPr/>
          <a:lstStyle/>
          <a:p>
            <a:r>
              <a:rPr lang="en-US"/>
              <a:t>ThS. Lê Nhật Tùng</a:t>
            </a:r>
          </a:p>
        </p:txBody>
      </p:sp>
      <p:sp>
        <p:nvSpPr>
          <p:cNvPr id="6" name="TextBox 5">
            <a:extLst>
              <a:ext uri="{FF2B5EF4-FFF2-40B4-BE49-F238E27FC236}">
                <a16:creationId xmlns:a16="http://schemas.microsoft.com/office/drawing/2014/main" id="{0D0EE653-B094-4425-FE82-49DC0EEB3B46}"/>
              </a:ext>
            </a:extLst>
          </p:cNvPr>
          <p:cNvSpPr txBox="1"/>
          <p:nvPr/>
        </p:nvSpPr>
        <p:spPr>
          <a:xfrm>
            <a:off x="777240" y="3118682"/>
            <a:ext cx="7810500" cy="2893100"/>
          </a:xfrm>
          <a:prstGeom prst="rect">
            <a:avLst/>
          </a:prstGeom>
          <a:noFill/>
        </p:spPr>
        <p:txBody>
          <a:bodyPr wrap="square">
            <a:spAutoFit/>
          </a:bodyPr>
          <a:lstStyle/>
          <a:p>
            <a:r>
              <a:rPr lang="en-US" sz="1400"/>
              <a:t># Compile the model</a:t>
            </a:r>
          </a:p>
          <a:p>
            <a:r>
              <a:rPr lang="en-US" sz="1400"/>
              <a:t>model.compile(optimizer = 'adam', loss = 'categorical_crossentropy',</a:t>
            </a:r>
          </a:p>
          <a:p>
            <a:r>
              <a:rPr lang="en-US" sz="1400"/>
              <a:t>              metrics = ['accuracy'])</a:t>
            </a:r>
          </a:p>
          <a:p>
            <a:endParaRPr lang="en-US" sz="1400"/>
          </a:p>
          <a:p>
            <a:r>
              <a:rPr lang="en-US" sz="1400"/>
              <a:t># Train the model</a:t>
            </a:r>
          </a:p>
          <a:p>
            <a:r>
              <a:rPr lang="en-US" sz="1400"/>
              <a:t>model.fit(x_train, y_train, validation_split = 0.1, epochs = 10, batch_size = 32)</a:t>
            </a:r>
          </a:p>
          <a:p>
            <a:endParaRPr lang="en-US" sz="1400"/>
          </a:p>
          <a:p>
            <a:r>
              <a:rPr lang="en-US" sz="1400"/>
              <a:t># Evaluate the model</a:t>
            </a:r>
          </a:p>
          <a:p>
            <a:r>
              <a:rPr lang="en-US" sz="1400"/>
              <a:t>test_loss, test_accuracy = model.evaluate(x_test, y_test)</a:t>
            </a:r>
          </a:p>
          <a:p>
            <a:r>
              <a:rPr lang="en-US" sz="1400"/>
              <a:t>print(f'Test accuracy: {test_accuracy:.4f}')</a:t>
            </a:r>
          </a:p>
          <a:p>
            <a:endParaRPr lang="en-US" sz="1400"/>
          </a:p>
          <a:p>
            <a:r>
              <a:rPr lang="en-US" sz="1400"/>
              <a:t># Save the model (optional)</a:t>
            </a:r>
          </a:p>
          <a:p>
            <a:r>
              <a:rPr lang="en-US" sz="1400"/>
              <a:t>model.save('mnist_cnn_model.h5')</a:t>
            </a:r>
          </a:p>
        </p:txBody>
      </p:sp>
    </p:spTree>
    <p:extLst>
      <p:ext uri="{BB962C8B-B14F-4D97-AF65-F5344CB8AC3E}">
        <p14:creationId xmlns:p14="http://schemas.microsoft.com/office/powerpoint/2010/main" val="17950221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C3A19-B05A-E0CC-A6C3-82EDB7465A3C}"/>
              </a:ext>
            </a:extLst>
          </p:cNvPr>
          <p:cNvSpPr>
            <a:spLocks noGrp="1"/>
          </p:cNvSpPr>
          <p:nvPr>
            <p:ph type="title"/>
          </p:nvPr>
        </p:nvSpPr>
        <p:spPr/>
        <p:txBody>
          <a:bodyPr>
            <a:normAutofit/>
          </a:bodyPr>
          <a:lstStyle/>
          <a:p>
            <a:r>
              <a:rPr lang="en-US" sz="2800" b="1"/>
              <a:t>6. Ứng dụng CNN vào bài toán phát hiện đối tượng</a:t>
            </a:r>
          </a:p>
        </p:txBody>
      </p:sp>
      <p:sp>
        <p:nvSpPr>
          <p:cNvPr id="3" name="Content Placeholder 2">
            <a:extLst>
              <a:ext uri="{FF2B5EF4-FFF2-40B4-BE49-F238E27FC236}">
                <a16:creationId xmlns:a16="http://schemas.microsoft.com/office/drawing/2014/main" id="{F7D71CD1-28B1-8415-6FEB-D302E7DD4C5D}"/>
              </a:ext>
            </a:extLst>
          </p:cNvPr>
          <p:cNvSpPr>
            <a:spLocks noGrp="1"/>
          </p:cNvSpPr>
          <p:nvPr>
            <p:ph idx="1"/>
          </p:nvPr>
        </p:nvSpPr>
        <p:spPr/>
        <p:txBody>
          <a:bodyPr/>
          <a:lstStyle/>
          <a:p>
            <a:pPr algn="just"/>
            <a:r>
              <a:rPr lang="vi-VN"/>
              <a:t>Phát hiện đối tượng (object detection) là một bài toán quan trọng trong thị giác máy tính, liên quan đến việc xác định và định vị các đối tượng trong một hình ảnh. </a:t>
            </a:r>
            <a:endParaRPr lang="en-US"/>
          </a:p>
          <a:p>
            <a:pPr algn="just"/>
            <a:r>
              <a:rPr lang="vi-VN"/>
              <a:t>Khác với phân loại hình ảnh, chỉ xác định sự hiện diện của một đối tượng, phát hiện đối tượng cung cấp cả nhãn lớp và vị trí của mỗi đối tượng bằng cách vẽ các hộp giới hạn (bounding box) xung quanh chúng. </a:t>
            </a:r>
            <a:endParaRPr lang="en-US"/>
          </a:p>
          <a:p>
            <a:pPr algn="just"/>
            <a:r>
              <a:rPr lang="vi-VN"/>
              <a:t>Khả năng này làm cho phát hiện đối tượng đặc biệt có giá trị trong các ứng dụng như xe tự lái, giám sát và robot.</a:t>
            </a:r>
            <a:endParaRPr lang="en-US"/>
          </a:p>
        </p:txBody>
      </p:sp>
      <p:sp>
        <p:nvSpPr>
          <p:cNvPr id="4" name="Footer Placeholder 3">
            <a:extLst>
              <a:ext uri="{FF2B5EF4-FFF2-40B4-BE49-F238E27FC236}">
                <a16:creationId xmlns:a16="http://schemas.microsoft.com/office/drawing/2014/main" id="{9AB564E8-D565-6C94-1E9B-DEE73DCB4784}"/>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9814512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41575-B1FD-A19B-A6F3-1D84D8E285FE}"/>
              </a:ext>
            </a:extLst>
          </p:cNvPr>
          <p:cNvSpPr>
            <a:spLocks noGrp="1"/>
          </p:cNvSpPr>
          <p:nvPr>
            <p:ph type="title"/>
          </p:nvPr>
        </p:nvSpPr>
        <p:spPr/>
        <p:txBody>
          <a:bodyPr>
            <a:normAutofit/>
          </a:bodyPr>
          <a:lstStyle/>
          <a:p>
            <a:r>
              <a:rPr lang="en-US" sz="2800" b="1"/>
              <a:t>6. Ứng dụng CNN vào bài toán phát hiện đối tượng</a:t>
            </a:r>
            <a:endParaRPr lang="en-US" sz="2800"/>
          </a:p>
        </p:txBody>
      </p:sp>
      <p:sp>
        <p:nvSpPr>
          <p:cNvPr id="3" name="Content Placeholder 2">
            <a:extLst>
              <a:ext uri="{FF2B5EF4-FFF2-40B4-BE49-F238E27FC236}">
                <a16:creationId xmlns:a16="http://schemas.microsoft.com/office/drawing/2014/main" id="{6EB5F55F-1943-EEB5-5F91-A38E96B7E529}"/>
              </a:ext>
            </a:extLst>
          </p:cNvPr>
          <p:cNvSpPr>
            <a:spLocks noGrp="1"/>
          </p:cNvSpPr>
          <p:nvPr>
            <p:ph idx="1"/>
          </p:nvPr>
        </p:nvSpPr>
        <p:spPr/>
        <p:txBody>
          <a:bodyPr>
            <a:normAutofit lnSpcReduction="10000"/>
          </a:bodyPr>
          <a:lstStyle/>
          <a:p>
            <a:pPr algn="just">
              <a:lnSpc>
                <a:spcPct val="170000"/>
              </a:lnSpc>
              <a:buNone/>
            </a:pPr>
            <a:r>
              <a:rPr lang="vi-VN" sz="1100"/>
              <a:t>Quá trình phát hiện đối tượng sử dụng CNN thường bao gồm một số bước chính như sau:</a:t>
            </a:r>
          </a:p>
          <a:p>
            <a:pPr algn="just">
              <a:lnSpc>
                <a:spcPct val="170000"/>
              </a:lnSpc>
              <a:buFont typeface="Arial" panose="020B0604020202020204" pitchFamily="34" charset="0"/>
              <a:buChar char="•"/>
            </a:pPr>
            <a:r>
              <a:rPr lang="vi-VN" sz="1100" b="1"/>
              <a:t>Trích xuất đặc trưng (feature extraction)</a:t>
            </a:r>
            <a:r>
              <a:rPr lang="vi-VN" sz="1100"/>
              <a:t>: CNN được sử dụng để trích xuất các feature map từ hình ảnh đầu vào. Các feature map này ghi nhận các đặc điểm thị giác cơ bản, như cạnh, kết cấu và hình dạng, ở các mức độ trừu tượng khác nhau.</a:t>
            </a:r>
          </a:p>
          <a:p>
            <a:pPr algn="just">
              <a:lnSpc>
                <a:spcPct val="170000"/>
              </a:lnSpc>
              <a:buFont typeface="Arial" panose="020B0604020202020204" pitchFamily="34" charset="0"/>
              <a:buChar char="•"/>
            </a:pPr>
            <a:r>
              <a:rPr lang="vi-VN" sz="1100" b="1"/>
              <a:t>Đề xuất vùng (region proposal)</a:t>
            </a:r>
            <a:r>
              <a:rPr lang="vi-VN" sz="1100"/>
              <a:t>: Các thuật toán region proposal để xuất các vùng trong hình ảnh có khả năng chứa đối tượng. Thuật toán region proposal có thể sử dụng các thuật toán truyền thống như tìm kiếm chọn lọc hoặc các phương pháp hiện đại hơn như mạng đề xuất vùng (Region Proposal Network RPN).</a:t>
            </a:r>
          </a:p>
          <a:p>
            <a:pPr algn="just">
              <a:lnSpc>
                <a:spcPct val="170000"/>
              </a:lnSpc>
              <a:buFont typeface="Arial" panose="020B0604020202020204" pitchFamily="34" charset="0"/>
              <a:buChar char="•"/>
            </a:pPr>
            <a:r>
              <a:rPr lang="vi-VN" sz="1100" b="1"/>
              <a:t>Phân loại và định vị</a:t>
            </a:r>
            <a:r>
              <a:rPr lang="vi-VN" sz="1100"/>
              <a:t>: Đối với mỗi vùng được đề xuất ở bước đề xuất vùng, CNN dự đoán lớp đối tượng và tinh chỉnh tọa độ của bounding box. Bước này bao gồm cả hai bài toán phân lớp (xác định loại đối tượng) và hồi quy (dự đoán hộp giới hạn).</a:t>
            </a:r>
          </a:p>
          <a:p>
            <a:pPr algn="just">
              <a:lnSpc>
                <a:spcPct val="170000"/>
              </a:lnSpc>
              <a:buFont typeface="Arial" panose="020B0604020202020204" pitchFamily="34" charset="0"/>
              <a:buChar char="•"/>
            </a:pPr>
            <a:r>
              <a:rPr lang="vi-VN" sz="1100" b="1"/>
              <a:t>Hậu xử lý (postprocess)</a:t>
            </a:r>
            <a:r>
              <a:rPr lang="vi-VN" sz="1100"/>
              <a:t>: Các kỹ thuật như Non Maximum Suppression (NMS) được áp dụng để loại bỏ các bounding box dư thừa và đảm bảo rằng mỗi đối tượng chỉ được phát hiện một lần.</a:t>
            </a:r>
          </a:p>
        </p:txBody>
      </p:sp>
      <p:sp>
        <p:nvSpPr>
          <p:cNvPr id="4" name="Footer Placeholder 3">
            <a:extLst>
              <a:ext uri="{FF2B5EF4-FFF2-40B4-BE49-F238E27FC236}">
                <a16:creationId xmlns:a16="http://schemas.microsoft.com/office/drawing/2014/main" id="{158ADBA9-3804-6001-1821-06B799C7C9B6}"/>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0066097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7370E-DB75-B9DE-3A95-6B19F6BDCE3A}"/>
              </a:ext>
            </a:extLst>
          </p:cNvPr>
          <p:cNvSpPr>
            <a:spLocks noGrp="1"/>
          </p:cNvSpPr>
          <p:nvPr>
            <p:ph type="title"/>
          </p:nvPr>
        </p:nvSpPr>
        <p:spPr/>
        <p:txBody>
          <a:bodyPr>
            <a:normAutofit/>
          </a:bodyPr>
          <a:lstStyle/>
          <a:p>
            <a:r>
              <a:rPr lang="en-US" sz="2800" b="1"/>
              <a:t>6. Ứng dụng CNN vào bài toán phát hiện đối tượng</a:t>
            </a:r>
            <a:endParaRPr lang="en-US" sz="2800"/>
          </a:p>
        </p:txBody>
      </p:sp>
      <p:sp>
        <p:nvSpPr>
          <p:cNvPr id="3" name="Content Placeholder 2">
            <a:extLst>
              <a:ext uri="{FF2B5EF4-FFF2-40B4-BE49-F238E27FC236}">
                <a16:creationId xmlns:a16="http://schemas.microsoft.com/office/drawing/2014/main" id="{A83815A4-C786-B64C-2C0B-F8404E80F596}"/>
              </a:ext>
            </a:extLst>
          </p:cNvPr>
          <p:cNvSpPr>
            <a:spLocks noGrp="1"/>
          </p:cNvSpPr>
          <p:nvPr>
            <p:ph idx="1"/>
          </p:nvPr>
        </p:nvSpPr>
        <p:spPr/>
        <p:txBody>
          <a:bodyPr/>
          <a:lstStyle/>
          <a:p>
            <a:pPr>
              <a:buNone/>
            </a:pPr>
            <a:r>
              <a:rPr lang="vi-VN" b="1"/>
              <a:t>Một số thuật toán phát hiện đối tượng dựa trên CNN nổi tiếng là:</a:t>
            </a:r>
          </a:p>
          <a:p>
            <a:pPr>
              <a:buFont typeface="Arial" panose="020B0604020202020204" pitchFamily="34" charset="0"/>
              <a:buChar char="•"/>
            </a:pPr>
            <a:r>
              <a:rPr lang="vi-VN" b="1"/>
              <a:t>R-CNN</a:t>
            </a:r>
            <a:r>
              <a:rPr lang="vi-VN"/>
              <a:t>: là phương pháp tiên phong trong phát hiện đối tượng bằng CNN. R-CNN sử dụng tìm kiếm chọn lọc cho thuật toán đề xuất vùng và CNN để phân loại và định vị đối tượng.</a:t>
            </a:r>
          </a:p>
          <a:p>
            <a:pPr>
              <a:buFont typeface="Arial" panose="020B0604020202020204" pitchFamily="34" charset="0"/>
              <a:buChar char="•"/>
            </a:pPr>
            <a:r>
              <a:rPr lang="vi-VN" b="1"/>
              <a:t>Fast R-CNN và Faster R-CNN</a:t>
            </a:r>
            <a:r>
              <a:rPr lang="vi-VN"/>
              <a:t>: Các mô hình này là mô hình cải tiến của R-CNN bằng cách tích hợp các bước đề xuất vùng và phân loại. Sự cải tiến này giúp giảm đáng kể thời gian thực thi của thuật toán.</a:t>
            </a:r>
          </a:p>
          <a:p>
            <a:pPr>
              <a:buFont typeface="Arial" panose="020B0604020202020204" pitchFamily="34" charset="0"/>
              <a:buChar char="•"/>
            </a:pPr>
            <a:r>
              <a:rPr lang="vi-VN" b="1"/>
              <a:t>YOLO (You Only Look Once)</a:t>
            </a:r>
            <a:r>
              <a:rPr lang="vi-VN"/>
              <a:t>: là thuật toán phát hiện đối tượng thời gian thực bằng cách chia hình ảnh thành một lưới và dự đoán bounding box và phân lớp dựa trên lưới đã chia.</a:t>
            </a:r>
          </a:p>
          <a:p>
            <a:endParaRPr lang="en-US"/>
          </a:p>
        </p:txBody>
      </p:sp>
      <p:sp>
        <p:nvSpPr>
          <p:cNvPr id="4" name="Footer Placeholder 3">
            <a:extLst>
              <a:ext uri="{FF2B5EF4-FFF2-40B4-BE49-F238E27FC236}">
                <a16:creationId xmlns:a16="http://schemas.microsoft.com/office/drawing/2014/main" id="{1CAC40F6-7542-8B74-9631-C10265FD4453}"/>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87360768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1962</TotalTime>
  <Words>5826</Words>
  <Application>Microsoft Office PowerPoint</Application>
  <PresentationFormat>On-screen Show (4:3)</PresentationFormat>
  <Paragraphs>354</Paragraphs>
  <Slides>61</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Aptos</vt:lpstr>
      <vt:lpstr>Arial</vt:lpstr>
      <vt:lpstr>Calibri</vt:lpstr>
      <vt:lpstr>Calibri Light</vt:lpstr>
      <vt:lpstr>Noto Serif</vt:lpstr>
      <vt:lpstr>VnNimbusRomanNo9L</vt:lpstr>
      <vt:lpstr>Wingdings</vt:lpstr>
      <vt:lpstr>Retrospect</vt:lpstr>
      <vt:lpstr>HỌC SÂU</vt:lpstr>
      <vt:lpstr>Mạng nơ-ron tích chập</vt:lpstr>
      <vt:lpstr>1.1. Tại sao cần CNN?</vt:lpstr>
      <vt:lpstr>CNN giải quyết những vấn đề này bằng cách:</vt:lpstr>
      <vt:lpstr>2. Cấu trúc của mạng CNN</vt:lpstr>
      <vt:lpstr>2.1. Phép tích chập</vt:lpstr>
      <vt:lpstr>Bộ lọc</vt:lpstr>
      <vt:lpstr>PowerPoint Presentation</vt:lpstr>
      <vt:lpstr>PowerPoint Presentation</vt:lpstr>
      <vt:lpstr>Bộ lọc</vt:lpstr>
      <vt:lpstr>Stride (Bước nhảy)</vt:lpstr>
      <vt:lpstr>Stride (Bước nhảy)</vt:lpstr>
      <vt:lpstr>Padding (Đệm)</vt:lpstr>
      <vt:lpstr>PowerPoint Presentation</vt:lpstr>
      <vt:lpstr>2.2. Phép tính chập với dữ liệu có nhiều kênh chiều sâu</vt:lpstr>
      <vt:lpstr>2.2. Phép tính chập với dữ liệu có nhiều kênh chiều sâu</vt:lpstr>
      <vt:lpstr>2.2. Phép tính chập với dữ liệu có nhiều kênh chiều sâu</vt:lpstr>
      <vt:lpstr>PowerPoint Presentation</vt:lpstr>
      <vt:lpstr>2.3. Phép tính chập với nhiều bộ lọc</vt:lpstr>
      <vt:lpstr>2.3. Phép tính chập với nhiều bộ lọc</vt:lpstr>
      <vt:lpstr>2.3. Phép tính chập với nhiều bộ lọc</vt:lpstr>
      <vt:lpstr>2.4. Lớp tích chập</vt:lpstr>
      <vt:lpstr>PowerPoint Presentation</vt:lpstr>
      <vt:lpstr>2.5. Lớp pooling</vt:lpstr>
      <vt:lpstr>Max Pooling</vt:lpstr>
      <vt:lpstr>Average Pooling</vt:lpstr>
      <vt:lpstr>2.6. Lớp kết nối đầy đủ</vt:lpstr>
      <vt:lpstr>2.6. Lớp kết nối đầy đủ</vt:lpstr>
      <vt:lpstr>PowerPoint Presentation</vt:lpstr>
      <vt:lpstr>3. MỘT SỐ KIẾN TRÚC MẠNG CNN NỔI TIẾNG</vt:lpstr>
      <vt:lpstr>PowerPoint Presentation</vt:lpstr>
      <vt:lpstr>PowerPoint Presentation</vt:lpstr>
      <vt:lpstr>3. MỘT SỐ KIẾN TRÚC MẠNG CNN NỔI TIẾNG</vt:lpstr>
      <vt:lpstr>PowerPoint Presentation</vt:lpstr>
      <vt:lpstr>PowerPoint Presentation</vt:lpstr>
      <vt:lpstr>3. MỘT SỐ KIẾN TRÚC MẠNG CNN NỔI TIẾNG</vt:lpstr>
      <vt:lpstr>PowerPoint Presentation</vt:lpstr>
      <vt:lpstr>PowerPoint Presentation</vt:lpstr>
      <vt:lpstr>4. Huấn luyện mạng CNN Bước 1, Chuẩn bị dữ liệu</vt:lpstr>
      <vt:lpstr>4. Huấn luyện mạng CNN</vt:lpstr>
      <vt:lpstr>4. Huấn luyện mạng CNN Bước 2, Thiết kế kiến trúc mô hình CNN:</vt:lpstr>
      <vt:lpstr>4. Huấn luyện mạng CNN Bước 3, Xác thực và điều chuyển tham số</vt:lpstr>
      <vt:lpstr>4. Huấn luyện mạng CNN Bước 4, Kiểm tra và đánh giá</vt:lpstr>
      <vt:lpstr>4. Huấn luyện mạng CNN Bước 5, Triển khai</vt:lpstr>
      <vt:lpstr>5. Ứng dụng CNN vào bài toán phân loại ảnh</vt:lpstr>
      <vt:lpstr>5. Ứng dụng CNN vào bài toán phân loại ảnh</vt:lpstr>
      <vt:lpstr>5. Ứng dụng CNN vào bài toán phân loại ảnh</vt:lpstr>
      <vt:lpstr>5. Ứng dụng CNN vào bài toán phân loại ảnh</vt:lpstr>
      <vt:lpstr>5. Ứng dụng CNN vào bài toán phân loại ảnh</vt:lpstr>
      <vt:lpstr>5. Ứng dụng CNN vào bài toán phân loại ảnh</vt:lpstr>
      <vt:lpstr>5. Ứng dụng CNN vào bài toán phân loại ảnh</vt:lpstr>
      <vt:lpstr>5. Ứng dụng CNN vào bài toán phân loại ảnh</vt:lpstr>
      <vt:lpstr>5. Ứng dụng CNN vào bài toán phân loại ảnh</vt:lpstr>
      <vt:lpstr>Thực hành</vt:lpstr>
      <vt:lpstr>PowerPoint Presentation</vt:lpstr>
      <vt:lpstr>Thiết kế CNN:</vt:lpstr>
      <vt:lpstr>Thiết kế CNN:</vt:lpstr>
      <vt:lpstr>Huấn luyện CNN:</vt:lpstr>
      <vt:lpstr>6. Ứng dụng CNN vào bài toán phát hiện đối tượng</vt:lpstr>
      <vt:lpstr>6. Ứng dụng CNN vào bài toán phát hiện đối tượng</vt:lpstr>
      <vt:lpstr>6. Ứng dụng CNN vào bài toán phát hiện đối tượng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Nhat Tung</dc:creator>
  <cp:lastModifiedBy>Le Nhat Tung</cp:lastModifiedBy>
  <cp:revision>139</cp:revision>
  <dcterms:created xsi:type="dcterms:W3CDTF">2025-02-15T00:36:04Z</dcterms:created>
  <dcterms:modified xsi:type="dcterms:W3CDTF">2025-12-12T08:05:02Z</dcterms:modified>
</cp:coreProperties>
</file>